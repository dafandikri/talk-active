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0:00–0:20
Good afternoon. We are Team FAM, and this is Talk-Active. Bring the evaluator’s rubric; leave with the exact sentence your answer still needs. Today we will prove that loop with the RISTEK finals rubric itself.
CUE: “First, the problem behind it.”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0:20–0:55
University graduate unemployment was 5.38% in November 2025. That statistic is context, not causality—many forces shape employment. Our bounded observation is simpler: in a pitch, defense, or interview, students can know the material and still fail to make the evaluator’s expected evidence explicit. The rubric exists, but practice is blind and the hardest question arrives too late.
CUE: “The evaluator has already given us the answer key.”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0:55–1:25
The evaluator has already given us the answer key: the published rubric. Talk-Active connects that rubric to one student attempt, then refuses to show a verdict unless it can quote the transcript—or explicitly list what evidence is still missing. This is not a confidence score, body-language scoring, or a claim that a model understands the student. It is evidence coverage against the evaluator’s own criteria.
CUE: “Here is the full loop.”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1:25–1:50
The full loop is project, rubric, attempt, evidence, defend, and saved progress. The differentiating moment is the handoff between evidence and defense: the student sees the exact sentence supporting a criterion, then practises the hardest question generated from the weakest one.
CUE: “Let me show it with the rubric judging us today.”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1:50–4:05
OPERATOR HANDOFF: Presenter says “Please switch to the browser now.” Operator opens the pinned production tab.
DEMO PATH (target 2:15): 1) Open the Talk-Active RISTEK project. 2) Show six imported finals criteria. 3) Start practice and paste the rehearsed answer. 4) Analyse. 5) Point to the verbatim transcript span and the per-criterion provenance label. 6) Open the hardest likely judge question. 7) Submit the prepared answer. 8) Show saved progress.
RECOVERY: If the semantic request stalls, say: “The network-assisted mapping did not answer inside our live-demo budget, so the product has switched visibly to deterministic cue matching. The loop still completes, and no unsupported verdict is hidden.”
RETURN CUE: “Please return to the deck.”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4:05–4:35
That is the core proof. A supporting verdict must point to the student’s own words. If a model proposes a quote that our server cannot find in the transcript, we discard that result and fall back visibly for that criterion. No quote means no supporting verdict. The weakest missing evidence becomes the judge question you practise next.
CUE: “Under the interface, the architecture protects that promise.”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4:35–5:15
The shipped stack is semantic HTML, CSS, native JavaScript modules and Node on Vercel. The browser sends text and rubric criteria to a Vercel Function; the AI Gateway key never reaches the client. A three-provider chain proposes evidence, then server code validates every span against the transcript. Invalid rows fall back visibly. If the network is absent, the pure deterministic analyzer runs on the device and returns the same shape, so the judge path still completes. Raw audio is not persisted; production expansion requires explicit consent, expiry, and deletion.
CUE: “That architecture also defines what is genuinely different.”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5:15–5:50
We do not claim that custom rubrics are unique. Yoodli already lets enterprise organisations import their own rubric. Our position is narrower and testable: the primary key is the evaluator’s published rubric, the buyer is the student, and we enforce a refusal contract—a supporting verdict disappears if it cannot quote the transcript. Competition pitching is our beachhead; Indonesian thesis-defense and scholarship tools already exist, and we say that before a judge has to correct us.
CUE: “The same discipline applies to reliability and cost.”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5:50–6:15
Production reality matters. The current submission passes more than 150 automated tests, 18 real-browser checks, and a 16-stage demo gate with zero console errors. AI spend is capped at five dollars with no auto-refresh and alerts at 50, 75 and 100 percent. Based on the actual primary model and our prompt size, one analysis is estimated at 0.27 to 0.6 cents; repeated demo inputs come from cache at zero additional model cost. If the cap or network fails, the deterministic path remains.
CUE: “What is built today—and what comes next—is equally explicit.”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6:15–6:35
Today we prove one bounded product: public-rubric projects, pasted or dictated attempts, traceable evidence, visible fallback, and saved progress. Next, we run a ten-student outcome pilot, measure rubric-import accuracy, add consent and deletion controls, and earn institutional partnerships. Give us one criterion. We will show the sentence—or refuse the verdict. Thank you.
HARD STOP. Do not add an improvised closing.
OPERATOR: advance only on the presenter's final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AF9F0"/>
        </a:solidFill>
      </p:bgPr>
    </p:bg>
    <p:spTree>
      <p:nvGrpSpPr>
        <p:cNvPr id="1" name=""/>
        <p:cNvGrpSpPr/>
        <p:nvPr/>
      </p:nvGrpSpPr>
      <p:grpSpPr>
        <a:xfrm>
          <a:off x="0" y="0"/>
          <a:ext cx="0" cy="0"/>
          <a:chOff x="0" y="0"/>
          <a:chExt cx="0" cy="0"/>
        </a:xfrm>
      </p:grpSpPr>
      <p:sp>
        <p:nvSpPr>
          <p:cNvPr id="2" name="Shape 0"/>
          <p:cNvSpPr/>
          <p:nvPr/>
        </p:nvSpPr>
        <p:spPr>
          <a:xfrm>
            <a:off x="502920" y="6492240"/>
            <a:ext cx="11183112" cy="0"/>
          </a:xfrm>
          <a:prstGeom prst="line">
            <a:avLst/>
          </a:prstGeom>
          <a:noFill/>
          <a:ln w="7620">
            <a:solidFill>
              <a:srgbClr val="D8DCCF"/>
            </a:solidFill>
            <a:prstDash val="solid"/>
          </a:ln>
        </p:spPr>
      </p:sp>
      <p:sp>
        <p:nvSpPr>
          <p:cNvPr id="3" name="Text 1"/>
          <p:cNvSpPr/>
          <p:nvPr/>
        </p:nvSpPr>
        <p:spPr>
          <a:xfrm>
            <a:off x="530352" y="6547104"/>
            <a:ext cx="2834640" cy="146304"/>
          </a:xfrm>
          <a:prstGeom prst="rect">
            <a:avLst/>
          </a:prstGeom>
          <a:noFill/>
          <a:ln/>
        </p:spPr>
        <p:txBody>
          <a:bodyPr wrap="square" lIns="0" tIns="0" rIns="0" bIns="0" rtlCol="0" anchor="ctr"/>
          <a:lstStyle/>
          <a:p>
            <a:pPr indent="0" marL="0">
              <a:buNone/>
            </a:pPr>
            <a:r>
              <a:rPr lang="en-US" sz="800" b="1" spc="120" kern="0" dirty="0">
                <a:solidFill>
                  <a:srgbClr val="667064"/>
                </a:solidFill>
                <a:latin typeface="Aptos" pitchFamily="34" charset="0"/>
                <a:ea typeface="Aptos" pitchFamily="34" charset="-122"/>
                <a:cs typeface="Aptos" pitchFamily="34" charset="-120"/>
              </a:rPr>
              <a:t>TALK-ACTIVE · TEAM FAM</a:t>
            </a:r>
            <a:endParaRPr lang="en-US" sz="80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talk-active-id.vercel.app" TargetMode="External"/><Relationship Id="rId6" Type="http://schemas.openxmlformats.org/officeDocument/2006/relationships/hyperlink" Target="https://github.com/dafandikri/talk-active"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bps.go.id/en/pressrelease/2026/02/05/2547/november-2025--unemployment-rate-was-4-74-percent-and-the-average-wage-of-employees-was-3-33-million-rupiah-.html"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talk-active-id.vercel.app" TargetMode="Externa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support.yoodli.ai/en/articles/11556965-creating-custom-goals"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talk-active-id.vercel.app"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talk-active-id.vercel.app" TargetMode="External"/><Relationship Id="rId2" Type="http://schemas.openxmlformats.org/officeDocument/2006/relationships/hyperlink" Target="https://github.com/dafandikri/talk-active"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19"/>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4A19"/>
          </a:solidFill>
          <a:ln w="12700">
            <a:solidFill>
              <a:srgbClr val="1E4A19"/>
            </a:solidFill>
            <a:prstDash val="solid"/>
          </a:ln>
        </p:spPr>
      </p:sp>
      <p:sp>
        <p:nvSpPr>
          <p:cNvPr id="3" name="Shape 1"/>
          <p:cNvSpPr/>
          <p:nvPr/>
        </p:nvSpPr>
        <p:spPr>
          <a:xfrm rot="1080000">
            <a:off x="8869680" y="-731520"/>
            <a:ext cx="4114800" cy="4114800"/>
          </a:xfrm>
          <a:prstGeom prst="arc">
            <a:avLst/>
          </a:prstGeom>
          <a:solidFill>
            <a:srgbClr val="1E4A19">
              <a:alpha val="0"/>
            </a:srgbClr>
          </a:solidFill>
          <a:ln w="38100">
            <a:solidFill>
              <a:srgbClr val="F4C72F">
                <a:alpha val="78000"/>
              </a:srgbClr>
            </a:solidFill>
            <a:prstDash val="solid"/>
          </a:ln>
        </p:spPr>
      </p:sp>
      <p:sp>
        <p:nvSpPr>
          <p:cNvPr id="4" name="Shape 2"/>
          <p:cNvSpPr/>
          <p:nvPr/>
        </p:nvSpPr>
        <p:spPr>
          <a:xfrm>
            <a:off x="9144000" y="4434840"/>
            <a:ext cx="2468880" cy="2468880"/>
          </a:xfrm>
          <a:prstGeom prst="ellipse">
            <a:avLst/>
          </a:prstGeom>
          <a:solidFill>
            <a:srgbClr val="2F6A25"/>
          </a:solidFill>
          <a:ln w="12700">
            <a:solidFill>
              <a:srgbClr val="2F6A25"/>
            </a:solidFill>
            <a:prstDash val="solid"/>
          </a:ln>
        </p:spPr>
      </p:sp>
      <p:pic>
        <p:nvPicPr>
          <p:cNvPr id="5" name="Image 0" descr="/var/folders/w7/476m9cts1hd9z22j5b7zlhrc0000gn/T/codex-presentations/019ff217-47cd-78b2-8522-138e9599009f/talk-active-ristek-finals/mascot.png">    </p:cNvPr>
          <p:cNvPicPr>
            <a:picLocks noChangeAspect="1"/>
          </p:cNvPicPr>
          <p:nvPr/>
        </p:nvPicPr>
        <p:blipFill>
          <a:blip r:embed="rId1"/>
          <a:stretch>
            <a:fillRect/>
          </a:stretch>
        </p:blipFill>
        <p:spPr>
          <a:xfrm>
            <a:off x="8686800" y="1335024"/>
            <a:ext cx="3063240" cy="3063240"/>
          </a:xfrm>
          <a:prstGeom prst="rect">
            <a:avLst/>
          </a:prstGeom>
        </p:spPr>
      </p:pic>
      <p:pic>
        <p:nvPicPr>
          <p:cNvPr id="6" name="Image 1" descr="/Users/dafandikri/Documents/Universitas Indonesia/Non-Academics/hackathon-ristek-2026-fam/docs/proposal/assets/logos/ristek.png">    </p:cNvPr>
          <p:cNvPicPr>
            <a:picLocks noChangeAspect="1"/>
          </p:cNvPicPr>
          <p:nvPr/>
        </p:nvPicPr>
        <p:blipFill>
          <a:blip r:embed="rId2"/>
          <a:stretch>
            <a:fillRect/>
          </a:stretch>
        </p:blipFill>
        <p:spPr>
          <a:xfrm>
            <a:off x="621792" y="365760"/>
            <a:ext cx="2651760" cy="512064"/>
          </a:xfrm>
          <a:prstGeom prst="rect">
            <a:avLst/>
          </a:prstGeom>
        </p:spPr>
      </p:pic>
      <p:pic>
        <p:nvPicPr>
          <p:cNvPr id="7" name="Image 2" descr="/Users/dafandikri/Documents/Universitas Indonesia/Non-Academics/hackathon-ristek-2026-fam/docs/proposal/assets/logos/fasilkom.png">    </p:cNvPr>
          <p:cNvPicPr>
            <a:picLocks noChangeAspect="1"/>
          </p:cNvPicPr>
          <p:nvPr/>
        </p:nvPicPr>
        <p:blipFill>
          <a:blip r:embed="rId3"/>
          <a:stretch>
            <a:fillRect/>
          </a:stretch>
        </p:blipFill>
        <p:spPr>
          <a:xfrm>
            <a:off x="3474720" y="347472"/>
            <a:ext cx="1417320" cy="612648"/>
          </a:xfrm>
          <a:prstGeom prst="rect">
            <a:avLst/>
          </a:prstGeom>
        </p:spPr>
      </p:pic>
      <p:pic>
        <p:nvPicPr>
          <p:cNvPr id="8" name="Image 3" descr="/Users/dafandikri/Documents/Universitas Indonesia/Non-Academics/hackathon-ristek-2026-fam/docs/proposal/assets/logos/dies-natalis-40.png">    </p:cNvPr>
          <p:cNvPicPr>
            <a:picLocks noChangeAspect="1"/>
          </p:cNvPicPr>
          <p:nvPr/>
        </p:nvPicPr>
        <p:blipFill>
          <a:blip r:embed="rId4"/>
          <a:stretch>
            <a:fillRect/>
          </a:stretch>
        </p:blipFill>
        <p:spPr>
          <a:xfrm>
            <a:off x="5157216" y="292608"/>
            <a:ext cx="713232" cy="713232"/>
          </a:xfrm>
          <a:prstGeom prst="rect">
            <a:avLst/>
          </a:prstGeom>
        </p:spPr>
      </p:pic>
      <p:sp>
        <p:nvSpPr>
          <p:cNvPr id="9" name="Text 3"/>
          <p:cNvSpPr txBox="1"/>
          <p:nvPr/>
        </p:nvSpPr>
        <p:spPr>
          <a:xfrm>
            <a:off x="658368" y="1261872"/>
            <a:ext cx="6217920" cy="237744"/>
          </a:xfrm>
          <a:prstGeom prst="rect">
            <a:avLst/>
          </a:prstGeom>
          <a:noFill/>
          <a:ln/>
        </p:spPr>
        <p:txBody>
          <a:bodyPr wrap="square" lIns="0" tIns="0" rIns="0" bIns="0" rtlCol="0" anchor="ctr">
            <a:normAutofit/>
          </a:bodyPr>
          <a:lstStyle/>
          <a:p>
            <a:pPr algn="l" indent="0" marL="0">
              <a:buNone/>
            </a:pPr>
            <a:r>
              <a:rPr lang="en-US" sz="1150" b="1" spc="170" kern="0" dirty="0">
                <a:solidFill>
                  <a:srgbClr val="CDE5C5"/>
                </a:solidFill>
                <a:latin typeface="Aptos" pitchFamily="34" charset="0"/>
                <a:ea typeface="Aptos" pitchFamily="34" charset="-122"/>
                <a:cs typeface="Aptos" pitchFamily="34" charset="-120"/>
              </a:rPr>
              <a:t>RISTEK HACKATHON 2026 · GRAND FINAL</a:t>
            </a:r>
            <a:endParaRPr lang="en-US" sz="1150" dirty="0"/>
          </a:p>
        </p:txBody>
      </p:sp>
      <p:sp>
        <p:nvSpPr>
          <p:cNvPr id="10" name="Text 4"/>
          <p:cNvSpPr/>
          <p:nvPr/>
        </p:nvSpPr>
        <p:spPr>
          <a:xfrm>
            <a:off x="621792" y="1664208"/>
            <a:ext cx="7498080" cy="777240"/>
          </a:xfrm>
          <a:prstGeom prst="rect">
            <a:avLst/>
          </a:prstGeom>
          <a:noFill/>
          <a:ln/>
        </p:spPr>
        <p:txBody>
          <a:bodyPr wrap="square" lIns="0" tIns="0" rIns="0" bIns="0" rtlCol="0" anchor="ctr">
            <a:normAutofit/>
          </a:bodyPr>
          <a:lstStyle/>
          <a:p>
            <a:pPr algn="l" indent="0" marL="0">
              <a:buNone/>
            </a:pPr>
            <a:r>
              <a:rPr lang="en-US" sz="4900" b="1" dirty="0">
                <a:solidFill>
                  <a:srgbClr val="FFFFFF"/>
                </a:solidFill>
                <a:latin typeface="Aptos Display" pitchFamily="34" charset="0"/>
                <a:ea typeface="Aptos Display" pitchFamily="34" charset="-122"/>
                <a:cs typeface="Aptos Display" pitchFamily="34" charset="-120"/>
              </a:rPr>
              <a:t>Talk</a:t>
            </a:r>
            <a:pPr algn="l" indent="0" marL="0">
              <a:buNone/>
            </a:pPr>
            <a:r>
              <a:rPr lang="en-US" sz="4900" b="1" dirty="0">
                <a:solidFill>
                  <a:srgbClr val="F4C72F"/>
                </a:solidFill>
                <a:latin typeface="Aptos Display" pitchFamily="34" charset="0"/>
                <a:ea typeface="Aptos Display" pitchFamily="34" charset="-122"/>
                <a:cs typeface="Aptos Display" pitchFamily="34" charset="-120"/>
              </a:rPr>
              <a:t>-Active</a:t>
            </a:r>
            <a:endParaRPr lang="en-US" sz="4900" dirty="0"/>
          </a:p>
        </p:txBody>
      </p:sp>
      <p:sp>
        <p:nvSpPr>
          <p:cNvPr id="11" name="Text 5"/>
          <p:cNvSpPr txBox="1"/>
          <p:nvPr/>
        </p:nvSpPr>
        <p:spPr>
          <a:xfrm>
            <a:off x="658368" y="2578608"/>
            <a:ext cx="7040880" cy="1005840"/>
          </a:xfrm>
          <a:prstGeom prst="rect">
            <a:avLst/>
          </a:prstGeom>
          <a:noFill/>
          <a:ln/>
        </p:spPr>
        <p:txBody>
          <a:bodyPr wrap="square" lIns="0" tIns="0" rIns="0" bIns="0" rtlCol="0" anchor="t">
            <a:normAutofit/>
          </a:bodyPr>
          <a:lstStyle/>
          <a:p>
            <a:pPr algn="l" indent="0" marL="0">
              <a:lnSpc>
                <a:spcPct val="92000"/>
              </a:lnSpc>
              <a:buNone/>
            </a:pPr>
            <a:r>
              <a:rPr lang="en-US" sz="2700" dirty="0">
                <a:solidFill>
                  <a:srgbClr val="FFFFFF"/>
                </a:solidFill>
                <a:latin typeface="Georgia" pitchFamily="34" charset="0"/>
                <a:ea typeface="Georgia" pitchFamily="34" charset="-122"/>
                <a:cs typeface="Georgia" pitchFamily="34" charset="-120"/>
              </a:rPr>
              <a:t>Bring the evaluator’s rubric.</a:t>
            </a:r>
            <a:endParaRPr lang="en-US" sz="2700" dirty="0"/>
          </a:p>
          <a:p>
            <a:pPr algn="l" indent="0" marL="0">
              <a:lnSpc>
                <a:spcPct val="92000"/>
              </a:lnSpc>
              <a:buNone/>
            </a:pPr>
            <a:r>
              <a:rPr lang="en-US" sz="2700" dirty="0">
                <a:solidFill>
                  <a:srgbClr val="FFFFFF"/>
                </a:solidFill>
                <a:latin typeface="Georgia" pitchFamily="34" charset="0"/>
                <a:ea typeface="Georgia" pitchFamily="34" charset="-122"/>
                <a:cs typeface="Georgia" pitchFamily="34" charset="-120"/>
              </a:rPr>
              <a:t>Leave with the sentence you still need.</a:t>
            </a:r>
            <a:endParaRPr lang="en-US" sz="2700" dirty="0"/>
          </a:p>
        </p:txBody>
      </p:sp>
      <p:sp>
        <p:nvSpPr>
          <p:cNvPr id="12" name="Text 6"/>
          <p:cNvSpPr txBox="1"/>
          <p:nvPr/>
        </p:nvSpPr>
        <p:spPr>
          <a:xfrm>
            <a:off x="658368" y="4005072"/>
            <a:ext cx="2011680" cy="237744"/>
          </a:xfrm>
          <a:prstGeom prst="rect">
            <a:avLst/>
          </a:prstGeom>
          <a:noFill/>
          <a:ln/>
        </p:spPr>
        <p:txBody>
          <a:bodyPr wrap="square" lIns="0" tIns="0" rIns="0" bIns="0" rtlCol="0" anchor="ctr">
            <a:normAutofit/>
          </a:bodyPr>
          <a:lstStyle/>
          <a:p>
            <a:pPr algn="l" indent="0" marL="0">
              <a:buNone/>
            </a:pPr>
            <a:r>
              <a:rPr lang="en-US" sz="1300" b="1" dirty="0">
                <a:solidFill>
                  <a:srgbClr val="F4C72F"/>
                </a:solidFill>
                <a:latin typeface="Aptos" pitchFamily="34" charset="0"/>
                <a:ea typeface="Aptos" pitchFamily="34" charset="-122"/>
                <a:cs typeface="Aptos" pitchFamily="34" charset="-120"/>
              </a:rPr>
              <a:t>Team FAM</a:t>
            </a:r>
            <a:endParaRPr lang="en-US" sz="1300" dirty="0"/>
          </a:p>
        </p:txBody>
      </p:sp>
      <p:sp>
        <p:nvSpPr>
          <p:cNvPr id="13" name="Text 7"/>
          <p:cNvSpPr txBox="1"/>
          <p:nvPr/>
        </p:nvSpPr>
        <p:spPr>
          <a:xfrm>
            <a:off x="658368" y="4288536"/>
            <a:ext cx="6995160" cy="585216"/>
          </a:xfrm>
          <a:prstGeom prst="rect">
            <a:avLst/>
          </a:prstGeom>
          <a:noFill/>
          <a:ln/>
        </p:spPr>
        <p:txBody>
          <a:bodyPr wrap="square" lIns="0" tIns="0" rIns="0" bIns="0" rtlCol="0" anchor="t">
            <a:normAutofit/>
          </a:bodyPr>
          <a:lstStyle/>
          <a:p>
            <a:pPr algn="l" indent="0" marL="0">
              <a:buNone/>
            </a:pPr>
            <a:r>
              <a:rPr lang="en-US" sz="1320" dirty="0">
                <a:solidFill>
                  <a:srgbClr val="FFFFFF"/>
                </a:solidFill>
                <a:latin typeface="Aptos" pitchFamily="34" charset="0"/>
                <a:ea typeface="Aptos" pitchFamily="34" charset="-122"/>
                <a:cs typeface="Aptos" pitchFamily="34" charset="-120"/>
              </a:rPr>
              <a:t>Sultan Ibnu Mansiz · Farrel Athalla Muljawan · Erdafa Andikri</a:t>
            </a:r>
            <a:endParaRPr lang="en-US" sz="1320" dirty="0"/>
          </a:p>
          <a:p>
            <a:pPr algn="l" indent="0" marL="0">
              <a:buNone/>
            </a:pPr>
            <a:r>
              <a:rPr lang="en-US" sz="1320" dirty="0">
                <a:solidFill>
                  <a:srgbClr val="FFFFFF"/>
                </a:solidFill>
                <a:latin typeface="Aptos" pitchFamily="34" charset="0"/>
                <a:ea typeface="Aptos" pitchFamily="34" charset="-122"/>
                <a:cs typeface="Aptos" pitchFamily="34" charset="-120"/>
              </a:rPr>
              <a:t>Ivan Jehuda Angi · Abhiseka Susanto</a:t>
            </a:r>
            <a:endParaRPr lang="en-US" sz="1320" dirty="0"/>
          </a:p>
        </p:txBody>
      </p:sp>
      <p:sp>
        <p:nvSpPr>
          <p:cNvPr id="14" name="Shape 8"/>
          <p:cNvSpPr/>
          <p:nvPr/>
        </p:nvSpPr>
        <p:spPr>
          <a:xfrm>
            <a:off x="658368" y="5230368"/>
            <a:ext cx="3035808" cy="457200"/>
          </a:xfrm>
          <a:prstGeom prst="roundRect">
            <a:avLst>
              <a:gd name="adj" fmla="val 36000"/>
            </a:avLst>
          </a:prstGeom>
          <a:solidFill>
            <a:srgbClr val="F4C72F"/>
          </a:solidFill>
          <a:ln w="10160">
            <a:solidFill>
              <a:srgbClr val="F4C72F"/>
            </a:solidFill>
            <a:prstDash val="solid"/>
          </a:ln>
        </p:spPr>
      </p:sp>
      <p:sp>
        <p:nvSpPr>
          <p:cNvPr id="15" name="Text 9"/>
          <p:cNvSpPr txBox="1"/>
          <p:nvPr/>
        </p:nvSpPr>
        <p:spPr>
          <a:xfrm>
            <a:off x="822960" y="5285232"/>
            <a:ext cx="2706624" cy="347472"/>
          </a:xfrm>
          <a:prstGeom prst="rect">
            <a:avLst/>
          </a:prstGeom>
          <a:noFill/>
          <a:ln/>
        </p:spPr>
        <p:txBody>
          <a:bodyPr wrap="square" lIns="0" tIns="0" rIns="0" bIns="0" rtlCol="0" anchor="ctr">
            <a:normAutofit/>
          </a:bodyPr>
          <a:lstStyle/>
          <a:p>
            <a:pPr algn="ctr" indent="0" marL="0">
              <a:buNone/>
            </a:pPr>
            <a:r>
              <a:rPr lang="en-US" sz="1300" b="1" u="sng" dirty="0">
                <a:solidFill>
                  <a:srgbClr val="171A16"/>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talk-active-id.vercel.app</a:t>
            </a:r>
            <a:endParaRPr lang="en-US" sz="1300" dirty="0"/>
          </a:p>
        </p:txBody>
      </p:sp>
      <p:sp>
        <p:nvSpPr>
          <p:cNvPr id="16" name="Shape 10"/>
          <p:cNvSpPr/>
          <p:nvPr/>
        </p:nvSpPr>
        <p:spPr>
          <a:xfrm>
            <a:off x="3858768" y="5230368"/>
            <a:ext cx="3429000" cy="457200"/>
          </a:xfrm>
          <a:prstGeom prst="roundRect">
            <a:avLst>
              <a:gd name="adj" fmla="val 36000"/>
            </a:avLst>
          </a:prstGeom>
          <a:solidFill>
            <a:srgbClr val="2F6A25"/>
          </a:solidFill>
          <a:ln w="10160">
            <a:solidFill>
              <a:srgbClr val="2F6A25"/>
            </a:solidFill>
            <a:prstDash val="solid"/>
          </a:ln>
        </p:spPr>
      </p:sp>
      <p:sp>
        <p:nvSpPr>
          <p:cNvPr id="17" name="Text 11"/>
          <p:cNvSpPr txBox="1"/>
          <p:nvPr/>
        </p:nvSpPr>
        <p:spPr>
          <a:xfrm>
            <a:off x="4023360" y="5285232"/>
            <a:ext cx="3099816" cy="347472"/>
          </a:xfrm>
          <a:prstGeom prst="rect">
            <a:avLst/>
          </a:prstGeom>
          <a:noFill/>
          <a:ln/>
        </p:spPr>
        <p:txBody>
          <a:bodyPr wrap="square" lIns="0" tIns="0" rIns="0" bIns="0" rtlCol="0" anchor="ctr">
            <a:normAutofit/>
          </a:bodyPr>
          <a:lstStyle/>
          <a:p>
            <a:pPr algn="ctr" indent="0" marL="0">
              <a:buNone/>
            </a:pPr>
            <a:r>
              <a:rPr lang="en-US" sz="1300" b="1" u="sng" dirty="0">
                <a:solidFill>
                  <a:srgbClr val="FFFFFF"/>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github.com/dafandikri/talk-active</a:t>
            </a:r>
            <a:endParaRPr lang="en-US" sz="1300" dirty="0"/>
          </a:p>
        </p:txBody>
      </p:sp>
      <p:sp>
        <p:nvSpPr>
          <p:cNvPr id="18" name="Text 12"/>
          <p:cNvSpPr txBox="1"/>
          <p:nvPr/>
        </p:nvSpPr>
        <p:spPr>
          <a:xfrm>
            <a:off x="676656" y="5907024"/>
            <a:ext cx="3840480" cy="219456"/>
          </a:xfrm>
          <a:prstGeom prst="rect">
            <a:avLst/>
          </a:prstGeom>
          <a:noFill/>
          <a:ln/>
        </p:spPr>
        <p:txBody>
          <a:bodyPr wrap="square" lIns="0" tIns="0" rIns="0" bIns="0" rtlCol="0" anchor="ctr">
            <a:normAutofit/>
          </a:bodyPr>
          <a:lstStyle/>
          <a:p>
            <a:pPr algn="l" indent="0" marL="0">
              <a:buNone/>
            </a:pPr>
            <a:r>
              <a:rPr lang="en-US" sz="1100" spc="100" kern="0" dirty="0">
                <a:solidFill>
                  <a:srgbClr val="CDE5C5"/>
                </a:solidFill>
                <a:latin typeface="Aptos" pitchFamily="34" charset="0"/>
                <a:ea typeface="Aptos" pitchFamily="34" charset="-122"/>
                <a:cs typeface="Aptos" pitchFamily="34" charset="-120"/>
              </a:rPr>
              <a:t>Education · Tech for Good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384048"/>
            <a:ext cx="4389120" cy="219456"/>
          </a:xfrm>
          <a:prstGeom prst="rect">
            <a:avLst/>
          </a:prstGeom>
          <a:noFill/>
          <a:ln/>
        </p:spPr>
        <p:txBody>
          <a:bodyPr wrap="square" lIns="0" tIns="0" rIns="0" bIns="0" rtlCol="0" anchor="ctr">
            <a:normAutofit/>
          </a:bodyPr>
          <a:lstStyle/>
          <a:p>
            <a:pPr algn="l" indent="0" marL="0">
              <a:buNone/>
            </a:pPr>
            <a:r>
              <a:rPr lang="en-US" sz="1050" b="1" spc="180" kern="0" dirty="0">
                <a:solidFill>
                  <a:srgbClr val="2F6A25"/>
                </a:solidFill>
                <a:latin typeface="Aptos" pitchFamily="34" charset="0"/>
                <a:ea typeface="Aptos" pitchFamily="34" charset="-122"/>
                <a:cs typeface="Aptos" pitchFamily="34" charset="-120"/>
              </a:rPr>
              <a:t>PROBLEM</a:t>
            </a:r>
            <a:endParaRPr lang="en-US" sz="1050" dirty="0"/>
          </a:p>
        </p:txBody>
      </p:sp>
      <p:sp>
        <p:nvSpPr>
          <p:cNvPr id="3" name="Text 1"/>
          <p:cNvSpPr txBox="1"/>
          <p:nvPr/>
        </p:nvSpPr>
        <p:spPr>
          <a:xfrm>
            <a:off x="594360" y="676656"/>
            <a:ext cx="10972800" cy="731520"/>
          </a:xfrm>
          <a:prstGeom prst="rect">
            <a:avLst/>
          </a:prstGeom>
          <a:noFill/>
          <a:ln/>
        </p:spPr>
        <p:txBody>
          <a:bodyPr wrap="square" lIns="0" tIns="0" rIns="0" bIns="0" rtlCol="0" anchor="t">
            <a:normAutofit/>
          </a:bodyPr>
          <a:lstStyle/>
          <a:p>
            <a:pPr algn="l" indent="0" marL="0">
              <a:buNone/>
            </a:pPr>
            <a:r>
              <a:rPr lang="en-US" sz="3500" b="1" dirty="0">
                <a:solidFill>
                  <a:srgbClr val="171A16"/>
                </a:solidFill>
                <a:latin typeface="Aptos Display" pitchFamily="34" charset="0"/>
                <a:ea typeface="Aptos Display" pitchFamily="34" charset="-122"/>
                <a:cs typeface="Aptos Display" pitchFamily="34" charset="-120"/>
              </a:rPr>
              <a:t>Students know their material. The high-stakes moment asks them to prove it.</a:t>
            </a:r>
            <a:endParaRPr lang="en-US" sz="3500" dirty="0"/>
          </a:p>
        </p:txBody>
      </p:sp>
      <p:sp>
        <p:nvSpPr>
          <p:cNvPr id="4" name="Text 2"/>
          <p:cNvSpPr txBox="1"/>
          <p:nvPr/>
        </p:nvSpPr>
        <p:spPr>
          <a:xfrm>
            <a:off x="621792" y="1408176"/>
            <a:ext cx="10789920" cy="429768"/>
          </a:xfrm>
          <a:prstGeom prst="rect">
            <a:avLst/>
          </a:prstGeom>
          <a:noFill/>
          <a:ln/>
        </p:spPr>
        <p:txBody>
          <a:bodyPr wrap="square" lIns="0" tIns="0" rIns="0" bIns="0" rtlCol="0" anchor="t">
            <a:normAutofit/>
          </a:bodyPr>
          <a:lstStyle/>
          <a:p>
            <a:pPr algn="l" indent="0" marL="0">
              <a:buNone/>
            </a:pPr>
            <a:r>
              <a:rPr lang="en-US" sz="1650" dirty="0">
                <a:solidFill>
                  <a:srgbClr val="667064"/>
                </a:solidFill>
                <a:latin typeface="Aptos" pitchFamily="34" charset="0"/>
                <a:ea typeface="Aptos" pitchFamily="34" charset="-122"/>
                <a:cs typeface="Aptos" pitchFamily="34" charset="-120"/>
              </a:rPr>
              <a:t>Talk-Active is deliberately bounded to the pitch, defense, and interview—not general speaking ability.</a:t>
            </a:r>
            <a:endParaRPr lang="en-US" sz="1650" dirty="0"/>
          </a:p>
        </p:txBody>
      </p:sp>
      <p:sp>
        <p:nvSpPr>
          <p:cNvPr id="5" name="Shape 3"/>
          <p:cNvSpPr/>
          <p:nvPr/>
        </p:nvSpPr>
        <p:spPr>
          <a:xfrm>
            <a:off x="621792" y="2048256"/>
            <a:ext cx="3246120" cy="3429000"/>
          </a:xfrm>
          <a:prstGeom prst="roundRect">
            <a:avLst>
              <a:gd name="adj" fmla="val 5070"/>
            </a:avLst>
          </a:prstGeom>
          <a:solidFill>
            <a:srgbClr val="1E4A19"/>
          </a:solidFill>
          <a:ln w="10160">
            <a:solidFill>
              <a:srgbClr val="1E4A19"/>
            </a:solidFill>
            <a:prstDash val="solid"/>
          </a:ln>
        </p:spPr>
      </p:sp>
      <p:sp>
        <p:nvSpPr>
          <p:cNvPr id="6" name="Text 4"/>
          <p:cNvSpPr txBox="1"/>
          <p:nvPr/>
        </p:nvSpPr>
        <p:spPr>
          <a:xfrm>
            <a:off x="896112" y="2450592"/>
            <a:ext cx="2651760" cy="804672"/>
          </a:xfrm>
          <a:prstGeom prst="rect">
            <a:avLst/>
          </a:prstGeom>
          <a:noFill/>
          <a:ln/>
        </p:spPr>
        <p:txBody>
          <a:bodyPr wrap="square" lIns="0" tIns="0" rIns="0" bIns="0" rtlCol="0" anchor="ctr">
            <a:normAutofit/>
          </a:bodyPr>
          <a:lstStyle/>
          <a:p>
            <a:pPr algn="ctr" indent="0" marL="0">
              <a:buNone/>
            </a:pPr>
            <a:r>
              <a:rPr lang="en-US" sz="5200" b="1" dirty="0">
                <a:solidFill>
                  <a:srgbClr val="F4C72F"/>
                </a:solidFill>
                <a:latin typeface="Aptos Display" pitchFamily="34" charset="0"/>
                <a:ea typeface="Aptos Display" pitchFamily="34" charset="-122"/>
                <a:cs typeface="Aptos Display" pitchFamily="34" charset="-120"/>
              </a:rPr>
              <a:t>5.38%</a:t>
            </a:r>
            <a:endParaRPr lang="en-US" sz="5200" dirty="0"/>
          </a:p>
        </p:txBody>
      </p:sp>
      <p:sp>
        <p:nvSpPr>
          <p:cNvPr id="7" name="Text 5"/>
          <p:cNvSpPr txBox="1"/>
          <p:nvPr/>
        </p:nvSpPr>
        <p:spPr>
          <a:xfrm>
            <a:off x="987552" y="3264408"/>
            <a:ext cx="2468880" cy="640080"/>
          </a:xfrm>
          <a:prstGeom prst="rect">
            <a:avLst/>
          </a:prstGeom>
          <a:noFill/>
          <a:ln/>
        </p:spPr>
        <p:txBody>
          <a:bodyPr wrap="square" lIns="0" tIns="0" rIns="0" bIns="0" rtlCol="0" anchor="t">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unemployment rate among</a:t>
            </a:r>
            <a:endParaRPr lang="en-US" sz="1700" dirty="0"/>
          </a:p>
          <a:p>
            <a:pPr algn="ctr" indent="0" marL="0">
              <a:buNone/>
            </a:pPr>
            <a:r>
              <a:rPr lang="en-US" sz="1700" b="1" dirty="0">
                <a:solidFill>
                  <a:srgbClr val="FFFFFF"/>
                </a:solidFill>
                <a:latin typeface="Aptos" pitchFamily="34" charset="0"/>
                <a:ea typeface="Aptos" pitchFamily="34" charset="-122"/>
                <a:cs typeface="Aptos" pitchFamily="34" charset="-120"/>
              </a:rPr>
              <a:t>university graduates</a:t>
            </a:r>
            <a:endParaRPr lang="en-US" sz="1700" dirty="0"/>
          </a:p>
        </p:txBody>
      </p:sp>
      <p:sp>
        <p:nvSpPr>
          <p:cNvPr id="8" name="Text 6"/>
          <p:cNvSpPr txBox="1"/>
          <p:nvPr/>
        </p:nvSpPr>
        <p:spPr>
          <a:xfrm>
            <a:off x="932688" y="4279392"/>
            <a:ext cx="2578608" cy="566928"/>
          </a:xfrm>
          <a:prstGeom prst="rect">
            <a:avLst/>
          </a:prstGeom>
          <a:noFill/>
          <a:ln/>
        </p:spPr>
        <p:txBody>
          <a:bodyPr wrap="square" lIns="0" tIns="0" rIns="0" bIns="0" rtlCol="0" anchor="t">
            <a:normAutofit/>
          </a:bodyPr>
          <a:lstStyle/>
          <a:p>
            <a:pPr algn="ctr" indent="0" marL="0">
              <a:buNone/>
            </a:pPr>
            <a:r>
              <a:rPr lang="en-US" sz="1150" i="1" dirty="0">
                <a:solidFill>
                  <a:srgbClr val="D2E4CB"/>
                </a:solidFill>
                <a:latin typeface="Aptos" pitchFamily="34" charset="0"/>
                <a:ea typeface="Aptos" pitchFamily="34" charset="-122"/>
                <a:cs typeface="Aptos" pitchFamily="34" charset="-120"/>
              </a:rPr>
              <a:t>Context—not a claim that rehearsal alone explains unemployment.</a:t>
            </a:r>
            <a:endParaRPr lang="en-US" sz="1150" dirty="0"/>
          </a:p>
        </p:txBody>
      </p:sp>
      <p:sp>
        <p:nvSpPr>
          <p:cNvPr id="9" name="Text 7"/>
          <p:cNvSpPr txBox="1"/>
          <p:nvPr/>
        </p:nvSpPr>
        <p:spPr>
          <a:xfrm>
            <a:off x="4343400" y="2103120"/>
            <a:ext cx="3108960" cy="256032"/>
          </a:xfrm>
          <a:prstGeom prst="rect">
            <a:avLst/>
          </a:prstGeom>
          <a:noFill/>
          <a:ln/>
        </p:spPr>
        <p:txBody>
          <a:bodyPr wrap="square" lIns="0" tIns="0" rIns="0" bIns="0" rtlCol="0" anchor="ctr">
            <a:normAutofit/>
          </a:bodyPr>
          <a:lstStyle/>
          <a:p>
            <a:pPr algn="l" indent="0" marL="0">
              <a:buNone/>
            </a:pPr>
            <a:r>
              <a:rPr lang="en-US" sz="1300" b="1" spc="110" kern="0" dirty="0">
                <a:solidFill>
                  <a:srgbClr val="2F6A25"/>
                </a:solidFill>
                <a:latin typeface="Aptos" pitchFamily="34" charset="0"/>
                <a:ea typeface="Aptos" pitchFamily="34" charset="-122"/>
                <a:cs typeface="Aptos" pitchFamily="34" charset="-120"/>
              </a:rPr>
              <a:t>The moment that breaks</a:t>
            </a:r>
            <a:endParaRPr lang="en-US" sz="1300" dirty="0"/>
          </a:p>
        </p:txBody>
      </p:sp>
      <p:sp>
        <p:nvSpPr>
          <p:cNvPr id="10" name="Shape 8"/>
          <p:cNvSpPr/>
          <p:nvPr/>
        </p:nvSpPr>
        <p:spPr>
          <a:xfrm>
            <a:off x="4352544" y="2542032"/>
            <a:ext cx="475488" cy="310896"/>
          </a:xfrm>
          <a:prstGeom prst="roundRect">
            <a:avLst>
              <a:gd name="adj" fmla="val 50000"/>
            </a:avLst>
          </a:prstGeom>
          <a:solidFill>
            <a:srgbClr val="F4C72F"/>
          </a:solidFill>
          <a:ln w="10160">
            <a:solidFill>
              <a:srgbClr val="F4C72F"/>
            </a:solidFill>
            <a:prstDash val="solid"/>
          </a:ln>
        </p:spPr>
      </p:sp>
      <p:sp>
        <p:nvSpPr>
          <p:cNvPr id="11" name="Text 9"/>
          <p:cNvSpPr txBox="1"/>
          <p:nvPr/>
        </p:nvSpPr>
        <p:spPr>
          <a:xfrm>
            <a:off x="4462272" y="2560320"/>
            <a:ext cx="256032"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01</a:t>
            </a:r>
            <a:endParaRPr lang="en-US" sz="1050" dirty="0"/>
          </a:p>
        </p:txBody>
      </p:sp>
      <p:sp>
        <p:nvSpPr>
          <p:cNvPr id="12" name="Text 10"/>
          <p:cNvSpPr txBox="1"/>
          <p:nvPr/>
        </p:nvSpPr>
        <p:spPr>
          <a:xfrm>
            <a:off x="5010912" y="2532888"/>
            <a:ext cx="2377440" cy="274320"/>
          </a:xfrm>
          <a:prstGeom prst="rect">
            <a:avLst/>
          </a:prstGeom>
          <a:noFill/>
          <a:ln/>
        </p:spPr>
        <p:txBody>
          <a:bodyPr wrap="square" lIns="0" tIns="0" rIns="0" bIns="0" rtlCol="0" anchor="ctr">
            <a:normAutofit/>
          </a:bodyPr>
          <a:lstStyle/>
          <a:p>
            <a:pPr algn="l" indent="0" marL="0">
              <a:buNone/>
            </a:pPr>
            <a:r>
              <a:rPr lang="en-US" sz="1700" b="1" dirty="0">
                <a:solidFill>
                  <a:srgbClr val="171A16"/>
                </a:solidFill>
                <a:latin typeface="Aptos" pitchFamily="34" charset="0"/>
                <a:ea typeface="Aptos" pitchFamily="34" charset="-122"/>
                <a:cs typeface="Aptos" pitchFamily="34" charset="-120"/>
              </a:rPr>
              <a:t>The rubric exists</a:t>
            </a:r>
            <a:endParaRPr lang="en-US" sz="1700" dirty="0"/>
          </a:p>
        </p:txBody>
      </p:sp>
      <p:sp>
        <p:nvSpPr>
          <p:cNvPr id="13" name="Text 11"/>
          <p:cNvSpPr txBox="1"/>
          <p:nvPr/>
        </p:nvSpPr>
        <p:spPr>
          <a:xfrm>
            <a:off x="7360920" y="2532888"/>
            <a:ext cx="4023360" cy="457200"/>
          </a:xfrm>
          <a:prstGeom prst="rect">
            <a:avLst/>
          </a:prstGeom>
          <a:noFill/>
          <a:ln/>
        </p:spPr>
        <p:txBody>
          <a:bodyPr wrap="square" lIns="0" tIns="0" rIns="0" bIns="0" rtlCol="0" anchor="t">
            <a:normAutofit/>
          </a:bodyPr>
          <a:lstStyle/>
          <a:p>
            <a:pPr algn="l" indent="0" marL="0">
              <a:buNone/>
            </a:pPr>
            <a:r>
              <a:rPr lang="en-US" sz="1450" dirty="0">
                <a:solidFill>
                  <a:srgbClr val="667064"/>
                </a:solidFill>
                <a:latin typeface="Aptos" pitchFamily="34" charset="0"/>
                <a:ea typeface="Aptos" pitchFamily="34" charset="-122"/>
                <a:cs typeface="Aptos" pitchFamily="34" charset="-120"/>
              </a:rPr>
              <a:t>Criteria are published before the evaluation.</a:t>
            </a:r>
            <a:endParaRPr lang="en-US" sz="1450" dirty="0"/>
          </a:p>
        </p:txBody>
      </p:sp>
      <p:sp>
        <p:nvSpPr>
          <p:cNvPr id="14" name="Shape 12"/>
          <p:cNvSpPr/>
          <p:nvPr/>
        </p:nvSpPr>
        <p:spPr>
          <a:xfrm>
            <a:off x="4352544" y="3529584"/>
            <a:ext cx="475488" cy="310896"/>
          </a:xfrm>
          <a:prstGeom prst="roundRect">
            <a:avLst>
              <a:gd name="adj" fmla="val 50000"/>
            </a:avLst>
          </a:prstGeom>
          <a:solidFill>
            <a:srgbClr val="F4C72F"/>
          </a:solidFill>
          <a:ln w="10160">
            <a:solidFill>
              <a:srgbClr val="F4C72F"/>
            </a:solidFill>
            <a:prstDash val="solid"/>
          </a:ln>
        </p:spPr>
      </p:sp>
      <p:sp>
        <p:nvSpPr>
          <p:cNvPr id="15" name="Text 13"/>
          <p:cNvSpPr txBox="1"/>
          <p:nvPr/>
        </p:nvSpPr>
        <p:spPr>
          <a:xfrm>
            <a:off x="4462272" y="3547872"/>
            <a:ext cx="256032"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02</a:t>
            </a:r>
            <a:endParaRPr lang="en-US" sz="1050" dirty="0"/>
          </a:p>
        </p:txBody>
      </p:sp>
      <p:sp>
        <p:nvSpPr>
          <p:cNvPr id="16" name="Text 14"/>
          <p:cNvSpPr txBox="1"/>
          <p:nvPr/>
        </p:nvSpPr>
        <p:spPr>
          <a:xfrm>
            <a:off x="5010912" y="3520440"/>
            <a:ext cx="2377440" cy="274320"/>
          </a:xfrm>
          <a:prstGeom prst="rect">
            <a:avLst/>
          </a:prstGeom>
          <a:noFill/>
          <a:ln/>
        </p:spPr>
        <p:txBody>
          <a:bodyPr wrap="square" lIns="0" tIns="0" rIns="0" bIns="0" rtlCol="0" anchor="ctr">
            <a:normAutofit/>
          </a:bodyPr>
          <a:lstStyle/>
          <a:p>
            <a:pPr algn="l" indent="0" marL="0">
              <a:buNone/>
            </a:pPr>
            <a:r>
              <a:rPr lang="en-US" sz="1700" b="1" dirty="0">
                <a:solidFill>
                  <a:srgbClr val="171A16"/>
                </a:solidFill>
                <a:latin typeface="Aptos" pitchFamily="34" charset="0"/>
                <a:ea typeface="Aptos" pitchFamily="34" charset="-122"/>
                <a:cs typeface="Aptos" pitchFamily="34" charset="-120"/>
              </a:rPr>
              <a:t>Practice is still blind</a:t>
            </a:r>
            <a:endParaRPr lang="en-US" sz="1700" dirty="0"/>
          </a:p>
        </p:txBody>
      </p:sp>
      <p:sp>
        <p:nvSpPr>
          <p:cNvPr id="17" name="Text 15"/>
          <p:cNvSpPr txBox="1"/>
          <p:nvPr/>
        </p:nvSpPr>
        <p:spPr>
          <a:xfrm>
            <a:off x="7360920" y="3520440"/>
            <a:ext cx="4023360" cy="457200"/>
          </a:xfrm>
          <a:prstGeom prst="rect">
            <a:avLst/>
          </a:prstGeom>
          <a:noFill/>
          <a:ln/>
        </p:spPr>
        <p:txBody>
          <a:bodyPr wrap="square" lIns="0" tIns="0" rIns="0" bIns="0" rtlCol="0" anchor="t">
            <a:normAutofit/>
          </a:bodyPr>
          <a:lstStyle/>
          <a:p>
            <a:pPr algn="l" indent="0" marL="0">
              <a:buNone/>
            </a:pPr>
            <a:r>
              <a:rPr lang="en-US" sz="1450" dirty="0">
                <a:solidFill>
                  <a:srgbClr val="667064"/>
                </a:solidFill>
                <a:latin typeface="Aptos" pitchFamily="34" charset="0"/>
                <a:ea typeface="Aptos" pitchFamily="34" charset="-122"/>
                <a:cs typeface="Aptos" pitchFamily="34" charset="-120"/>
              </a:rPr>
              <a:t>Students repeat a speech without checking explicit evidence.</a:t>
            </a:r>
            <a:endParaRPr lang="en-US" sz="1450" dirty="0"/>
          </a:p>
        </p:txBody>
      </p:sp>
      <p:sp>
        <p:nvSpPr>
          <p:cNvPr id="18" name="Shape 16"/>
          <p:cNvSpPr/>
          <p:nvPr/>
        </p:nvSpPr>
        <p:spPr>
          <a:xfrm>
            <a:off x="4352544" y="4517136"/>
            <a:ext cx="475488" cy="310896"/>
          </a:xfrm>
          <a:prstGeom prst="roundRect">
            <a:avLst>
              <a:gd name="adj" fmla="val 50000"/>
            </a:avLst>
          </a:prstGeom>
          <a:solidFill>
            <a:srgbClr val="F4C72F"/>
          </a:solidFill>
          <a:ln w="10160">
            <a:solidFill>
              <a:srgbClr val="F4C72F"/>
            </a:solidFill>
            <a:prstDash val="solid"/>
          </a:ln>
        </p:spPr>
      </p:sp>
      <p:sp>
        <p:nvSpPr>
          <p:cNvPr id="19" name="Text 17"/>
          <p:cNvSpPr txBox="1"/>
          <p:nvPr/>
        </p:nvSpPr>
        <p:spPr>
          <a:xfrm>
            <a:off x="4462272" y="4535424"/>
            <a:ext cx="256032"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03</a:t>
            </a:r>
            <a:endParaRPr lang="en-US" sz="1050" dirty="0"/>
          </a:p>
        </p:txBody>
      </p:sp>
      <p:sp>
        <p:nvSpPr>
          <p:cNvPr id="20" name="Text 18"/>
          <p:cNvSpPr txBox="1"/>
          <p:nvPr/>
        </p:nvSpPr>
        <p:spPr>
          <a:xfrm>
            <a:off x="5010912" y="4507992"/>
            <a:ext cx="2377440" cy="274320"/>
          </a:xfrm>
          <a:prstGeom prst="rect">
            <a:avLst/>
          </a:prstGeom>
          <a:noFill/>
          <a:ln/>
        </p:spPr>
        <p:txBody>
          <a:bodyPr wrap="square" lIns="0" tIns="0" rIns="0" bIns="0" rtlCol="0" anchor="ctr">
            <a:normAutofit/>
          </a:bodyPr>
          <a:lstStyle/>
          <a:p>
            <a:pPr algn="l" indent="0" marL="0">
              <a:buNone/>
            </a:pPr>
            <a:r>
              <a:rPr lang="en-US" sz="1700" b="1" dirty="0">
                <a:solidFill>
                  <a:srgbClr val="171A16"/>
                </a:solidFill>
                <a:latin typeface="Aptos" pitchFamily="34" charset="0"/>
                <a:ea typeface="Aptos" pitchFamily="34" charset="-122"/>
                <a:cs typeface="Aptos" pitchFamily="34" charset="-120"/>
              </a:rPr>
              <a:t>Feedback arrives too late</a:t>
            </a:r>
            <a:endParaRPr lang="en-US" sz="1700" dirty="0"/>
          </a:p>
        </p:txBody>
      </p:sp>
      <p:sp>
        <p:nvSpPr>
          <p:cNvPr id="21" name="Text 19"/>
          <p:cNvSpPr txBox="1"/>
          <p:nvPr/>
        </p:nvSpPr>
        <p:spPr>
          <a:xfrm>
            <a:off x="7360920" y="4507992"/>
            <a:ext cx="4023360" cy="457200"/>
          </a:xfrm>
          <a:prstGeom prst="rect">
            <a:avLst/>
          </a:prstGeom>
          <a:noFill/>
          <a:ln/>
        </p:spPr>
        <p:txBody>
          <a:bodyPr wrap="square" lIns="0" tIns="0" rIns="0" bIns="0" rtlCol="0" anchor="t">
            <a:normAutofit/>
          </a:bodyPr>
          <a:lstStyle/>
          <a:p>
            <a:pPr algn="l" indent="0" marL="0">
              <a:buNone/>
            </a:pPr>
            <a:r>
              <a:rPr lang="en-US" sz="1450" dirty="0">
                <a:solidFill>
                  <a:srgbClr val="667064"/>
                </a:solidFill>
                <a:latin typeface="Aptos" pitchFamily="34" charset="0"/>
                <a:ea typeface="Aptos" pitchFamily="34" charset="-122"/>
                <a:cs typeface="Aptos" pitchFamily="34" charset="-120"/>
              </a:rPr>
              <a:t>The hardest question appears only after a judge asks it.</a:t>
            </a:r>
            <a:endParaRPr lang="en-US" sz="1450" dirty="0"/>
          </a:p>
        </p:txBody>
      </p:sp>
      <p:sp>
        <p:nvSpPr>
          <p:cNvPr id="22" name="Text 20"/>
          <p:cNvSpPr/>
          <p:nvPr/>
        </p:nvSpPr>
        <p:spPr>
          <a:xfrm>
            <a:off x="621792" y="6217920"/>
            <a:ext cx="10881360" cy="164592"/>
          </a:xfrm>
          <a:prstGeom prst="rect">
            <a:avLst/>
          </a:prstGeom>
          <a:noFill/>
          <a:ln/>
        </p:spPr>
        <p:txBody>
          <a:bodyPr wrap="square" lIns="0" tIns="0" rIns="0" bIns="0" rtlCol="0" anchor="ctr">
            <a:normAutofit/>
          </a:bodyPr>
          <a:lstStyle/>
          <a:p>
            <a:pPr algn="l" indent="0" marL="0">
              <a:buNone/>
            </a:pPr>
            <a:r>
              <a:rPr lang="en-US" sz="820" i="1" dirty="0">
                <a:solidFill>
                  <a:srgbClr val="667064"/>
                </a:solidFill>
                <a:latin typeface="Aptos" pitchFamily="34" charset="0"/>
                <a:ea typeface="Aptos" pitchFamily="34" charset="-122"/>
                <a:cs typeface="Aptos" pitchFamily="34" charset="-120"/>
              </a:rPr>
              <a:t>Source: BPS, November 2025 labour-force release (education breakdown in official release materials).</a:t>
            </a:r>
            <a:pPr algn="l" indent="0" marL="0">
              <a:buNone/>
            </a:pPr>
            <a:r>
              <a:rPr lang="en-US" sz="820" b="1" u="sng" dirty="0">
                <a:solidFill>
                  <a:srgbClr val="1984A6"/>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a:t>
            </a:r>
            <a:endParaRPr lang="en-US" sz="82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384048"/>
            <a:ext cx="4389120" cy="219456"/>
          </a:xfrm>
          <a:prstGeom prst="rect">
            <a:avLst/>
          </a:prstGeom>
          <a:noFill/>
          <a:ln/>
        </p:spPr>
        <p:txBody>
          <a:bodyPr wrap="square" lIns="0" tIns="0" rIns="0" bIns="0" rtlCol="0" anchor="ctr">
            <a:normAutofit/>
          </a:bodyPr>
          <a:lstStyle/>
          <a:p>
            <a:pPr algn="l" indent="0" marL="0">
              <a:buNone/>
            </a:pPr>
            <a:r>
              <a:rPr lang="en-US" sz="1050" b="1" spc="180" kern="0" dirty="0">
                <a:solidFill>
                  <a:srgbClr val="2F6A25"/>
                </a:solidFill>
                <a:latin typeface="Aptos" pitchFamily="34" charset="0"/>
                <a:ea typeface="Aptos" pitchFamily="34" charset="-122"/>
                <a:cs typeface="Aptos" pitchFamily="34" charset="-120"/>
              </a:rPr>
              <a:t>INSIGHT</a:t>
            </a:r>
            <a:endParaRPr lang="en-US" sz="1050" dirty="0"/>
          </a:p>
        </p:txBody>
      </p:sp>
      <p:sp>
        <p:nvSpPr>
          <p:cNvPr id="3" name="Text 1"/>
          <p:cNvSpPr txBox="1"/>
          <p:nvPr/>
        </p:nvSpPr>
        <p:spPr>
          <a:xfrm>
            <a:off x="594360" y="676656"/>
            <a:ext cx="10972800" cy="731520"/>
          </a:xfrm>
          <a:prstGeom prst="rect">
            <a:avLst/>
          </a:prstGeom>
          <a:noFill/>
          <a:ln/>
        </p:spPr>
        <p:txBody>
          <a:bodyPr wrap="square" lIns="0" tIns="0" rIns="0" bIns="0" rtlCol="0" anchor="t">
            <a:normAutofit/>
          </a:bodyPr>
          <a:lstStyle/>
          <a:p>
            <a:pPr algn="l" indent="0" marL="0">
              <a:buNone/>
            </a:pPr>
            <a:r>
              <a:rPr lang="en-US" sz="3500" b="1" dirty="0">
                <a:solidFill>
                  <a:srgbClr val="171A16"/>
                </a:solidFill>
                <a:latin typeface="Aptos Display" pitchFamily="34" charset="0"/>
                <a:ea typeface="Aptos Display" pitchFamily="34" charset="-122"/>
                <a:cs typeface="Aptos Display" pitchFamily="34" charset="-120"/>
              </a:rPr>
              <a:t>The evaluator has already told us what “good” means.</a:t>
            </a:r>
            <a:endParaRPr lang="en-US" sz="3500" dirty="0"/>
          </a:p>
        </p:txBody>
      </p:sp>
      <p:sp>
        <p:nvSpPr>
          <p:cNvPr id="4" name="Text 2"/>
          <p:cNvSpPr txBox="1"/>
          <p:nvPr/>
        </p:nvSpPr>
        <p:spPr>
          <a:xfrm>
            <a:off x="621792" y="1408176"/>
            <a:ext cx="10789920" cy="429768"/>
          </a:xfrm>
          <a:prstGeom prst="rect">
            <a:avLst/>
          </a:prstGeom>
          <a:noFill/>
          <a:ln/>
        </p:spPr>
        <p:txBody>
          <a:bodyPr wrap="square" lIns="0" tIns="0" rIns="0" bIns="0" rtlCol="0" anchor="t">
            <a:normAutofit/>
          </a:bodyPr>
          <a:lstStyle/>
          <a:p>
            <a:pPr algn="l" indent="0" marL="0">
              <a:buNone/>
            </a:pPr>
            <a:r>
              <a:rPr lang="en-US" sz="1650" dirty="0">
                <a:solidFill>
                  <a:srgbClr val="667064"/>
                </a:solidFill>
                <a:latin typeface="Aptos" pitchFamily="34" charset="0"/>
                <a:ea typeface="Aptos" pitchFamily="34" charset="-122"/>
                <a:cs typeface="Aptos" pitchFamily="34" charset="-120"/>
              </a:rPr>
              <a:t>The missing step is turning a published rubric into a personal rehearsal loop.</a:t>
            </a:r>
            <a:endParaRPr lang="en-US" sz="1650" dirty="0"/>
          </a:p>
        </p:txBody>
      </p:sp>
      <p:sp>
        <p:nvSpPr>
          <p:cNvPr id="5" name="Shape 3"/>
          <p:cNvSpPr/>
          <p:nvPr/>
        </p:nvSpPr>
        <p:spPr>
          <a:xfrm>
            <a:off x="640080" y="2139696"/>
            <a:ext cx="3108960" cy="2852928"/>
          </a:xfrm>
          <a:prstGeom prst="roundRect">
            <a:avLst>
              <a:gd name="adj" fmla="val 5769"/>
            </a:avLst>
          </a:prstGeom>
          <a:solidFill>
            <a:srgbClr val="F2F0E8"/>
          </a:solidFill>
          <a:ln w="10160">
            <a:solidFill>
              <a:srgbClr val="D8DCCF"/>
            </a:solidFill>
            <a:prstDash val="solid"/>
          </a:ln>
        </p:spPr>
      </p:sp>
      <p:sp>
        <p:nvSpPr>
          <p:cNvPr id="6" name="Shape 4"/>
          <p:cNvSpPr/>
          <p:nvPr/>
        </p:nvSpPr>
        <p:spPr>
          <a:xfrm>
            <a:off x="896112" y="2395728"/>
            <a:ext cx="438912" cy="310896"/>
          </a:xfrm>
          <a:prstGeom prst="roundRect">
            <a:avLst>
              <a:gd name="adj" fmla="val 50000"/>
            </a:avLst>
          </a:prstGeom>
          <a:solidFill>
            <a:srgbClr val="1E4A19"/>
          </a:solidFill>
          <a:ln w="10160">
            <a:solidFill>
              <a:srgbClr val="1E4A19"/>
            </a:solidFill>
            <a:prstDash val="solid"/>
          </a:ln>
        </p:spPr>
      </p:sp>
      <p:sp>
        <p:nvSpPr>
          <p:cNvPr id="7" name="Text 5"/>
          <p:cNvSpPr txBox="1"/>
          <p:nvPr/>
        </p:nvSpPr>
        <p:spPr>
          <a:xfrm>
            <a:off x="1005840" y="2414016"/>
            <a:ext cx="219456"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FFFFFF"/>
                </a:solidFill>
                <a:latin typeface="Aptos" pitchFamily="34" charset="0"/>
                <a:ea typeface="Aptos" pitchFamily="34" charset="-122"/>
                <a:cs typeface="Aptos" pitchFamily="34" charset="-120"/>
              </a:rPr>
              <a:t>1</a:t>
            </a:r>
            <a:endParaRPr lang="en-US" sz="1050" dirty="0"/>
          </a:p>
        </p:txBody>
      </p:sp>
      <p:sp>
        <p:nvSpPr>
          <p:cNvPr id="8" name="Text 6"/>
          <p:cNvSpPr txBox="1"/>
          <p:nvPr/>
        </p:nvSpPr>
        <p:spPr>
          <a:xfrm>
            <a:off x="914400" y="3054096"/>
            <a:ext cx="2560320" cy="420624"/>
          </a:xfrm>
          <a:prstGeom prst="rect">
            <a:avLst/>
          </a:prstGeom>
          <a:noFill/>
          <a:ln/>
        </p:spPr>
        <p:txBody>
          <a:bodyPr wrap="square" lIns="0" tIns="0" rIns="0" bIns="0" rtlCol="0" anchor="t">
            <a:normAutofit/>
          </a:bodyPr>
          <a:lstStyle/>
          <a:p>
            <a:pPr algn="l" indent="0" marL="0">
              <a:buNone/>
            </a:pPr>
            <a:r>
              <a:rPr lang="en-US" sz="2200" b="1" dirty="0">
                <a:solidFill>
                  <a:srgbClr val="171A16"/>
                </a:solidFill>
                <a:latin typeface="Aptos" pitchFamily="34" charset="0"/>
                <a:ea typeface="Aptos" pitchFamily="34" charset="-122"/>
                <a:cs typeface="Aptos" pitchFamily="34" charset="-120"/>
              </a:rPr>
              <a:t>Published rubric</a:t>
            </a:r>
            <a:endParaRPr lang="en-US" sz="2200" dirty="0"/>
          </a:p>
        </p:txBody>
      </p:sp>
      <p:sp>
        <p:nvSpPr>
          <p:cNvPr id="9" name="Text 7"/>
          <p:cNvSpPr txBox="1"/>
          <p:nvPr/>
        </p:nvSpPr>
        <p:spPr>
          <a:xfrm>
            <a:off x="914400" y="3621024"/>
            <a:ext cx="2560320" cy="841248"/>
          </a:xfrm>
          <a:prstGeom prst="rect">
            <a:avLst/>
          </a:prstGeom>
          <a:noFill/>
          <a:ln/>
        </p:spPr>
        <p:txBody>
          <a:bodyPr wrap="square" lIns="0" tIns="0" rIns="0" bIns="0" rtlCol="0" anchor="t">
            <a:normAutofit/>
          </a:bodyPr>
          <a:lstStyle/>
          <a:p>
            <a:pPr algn="l" indent="0" marL="0">
              <a:buNone/>
            </a:pPr>
            <a:r>
              <a:rPr lang="en-US" sz="1550" dirty="0">
                <a:solidFill>
                  <a:srgbClr val="667064"/>
                </a:solidFill>
                <a:latin typeface="Aptos" pitchFamily="34" charset="0"/>
                <a:ea typeface="Aptos" pitchFamily="34" charset="-122"/>
                <a:cs typeface="Aptos" pitchFamily="34" charset="-120"/>
              </a:rPr>
              <a:t>RISTEK, PKM, scholarships and competitions publish evaluation criteria.</a:t>
            </a:r>
            <a:endParaRPr lang="en-US" sz="1550" dirty="0"/>
          </a:p>
        </p:txBody>
      </p:sp>
      <p:sp>
        <p:nvSpPr>
          <p:cNvPr id="10" name="Shape 8"/>
          <p:cNvSpPr/>
          <p:nvPr/>
        </p:nvSpPr>
        <p:spPr>
          <a:xfrm>
            <a:off x="3950208" y="3557016"/>
            <a:ext cx="512064" cy="0"/>
          </a:xfrm>
          <a:prstGeom prst="line">
            <a:avLst/>
          </a:prstGeom>
          <a:noFill/>
          <a:ln w="30480">
            <a:solidFill>
              <a:srgbClr val="2F6A25"/>
            </a:solidFill>
            <a:prstDash val="solid"/>
            <a:headEnd type="none"/>
            <a:tailEnd type="triangle"/>
          </a:ln>
        </p:spPr>
      </p:sp>
      <p:sp>
        <p:nvSpPr>
          <p:cNvPr id="11" name="Shape 9"/>
          <p:cNvSpPr/>
          <p:nvPr/>
        </p:nvSpPr>
        <p:spPr>
          <a:xfrm>
            <a:off x="4535424" y="2139696"/>
            <a:ext cx="3108960" cy="2852928"/>
          </a:xfrm>
          <a:prstGeom prst="roundRect">
            <a:avLst>
              <a:gd name="adj" fmla="val 5769"/>
            </a:avLst>
          </a:prstGeom>
          <a:solidFill>
            <a:srgbClr val="E7F0E2"/>
          </a:solidFill>
          <a:ln w="10160">
            <a:solidFill>
              <a:srgbClr val="D8DCCF"/>
            </a:solidFill>
            <a:prstDash val="solid"/>
          </a:ln>
        </p:spPr>
      </p:sp>
      <p:sp>
        <p:nvSpPr>
          <p:cNvPr id="12" name="Shape 10"/>
          <p:cNvSpPr/>
          <p:nvPr/>
        </p:nvSpPr>
        <p:spPr>
          <a:xfrm>
            <a:off x="4791456" y="2395728"/>
            <a:ext cx="438912" cy="310896"/>
          </a:xfrm>
          <a:prstGeom prst="roundRect">
            <a:avLst>
              <a:gd name="adj" fmla="val 50000"/>
            </a:avLst>
          </a:prstGeom>
          <a:solidFill>
            <a:srgbClr val="1E4A19"/>
          </a:solidFill>
          <a:ln w="10160">
            <a:solidFill>
              <a:srgbClr val="1E4A19"/>
            </a:solidFill>
            <a:prstDash val="solid"/>
          </a:ln>
        </p:spPr>
      </p:sp>
      <p:sp>
        <p:nvSpPr>
          <p:cNvPr id="13" name="Text 11"/>
          <p:cNvSpPr txBox="1"/>
          <p:nvPr/>
        </p:nvSpPr>
        <p:spPr>
          <a:xfrm>
            <a:off x="4901184" y="2414016"/>
            <a:ext cx="219456"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FFFFFF"/>
                </a:solidFill>
                <a:latin typeface="Aptos" pitchFamily="34" charset="0"/>
                <a:ea typeface="Aptos" pitchFamily="34" charset="-122"/>
                <a:cs typeface="Aptos" pitchFamily="34" charset="-120"/>
              </a:rPr>
              <a:t>2</a:t>
            </a:r>
            <a:endParaRPr lang="en-US" sz="1050" dirty="0"/>
          </a:p>
        </p:txBody>
      </p:sp>
      <p:sp>
        <p:nvSpPr>
          <p:cNvPr id="14" name="Text 12"/>
          <p:cNvSpPr txBox="1"/>
          <p:nvPr/>
        </p:nvSpPr>
        <p:spPr>
          <a:xfrm>
            <a:off x="4809744" y="3054096"/>
            <a:ext cx="2560320" cy="420624"/>
          </a:xfrm>
          <a:prstGeom prst="rect">
            <a:avLst/>
          </a:prstGeom>
          <a:noFill/>
          <a:ln/>
        </p:spPr>
        <p:txBody>
          <a:bodyPr wrap="square" lIns="0" tIns="0" rIns="0" bIns="0" rtlCol="0" anchor="t">
            <a:normAutofit/>
          </a:bodyPr>
          <a:lstStyle/>
          <a:p>
            <a:pPr algn="l" indent="0" marL="0">
              <a:buNone/>
            </a:pPr>
            <a:r>
              <a:rPr lang="en-US" sz="2200" b="1" dirty="0">
                <a:solidFill>
                  <a:srgbClr val="171A16"/>
                </a:solidFill>
                <a:latin typeface="Aptos" pitchFamily="34" charset="0"/>
                <a:ea typeface="Aptos" pitchFamily="34" charset="-122"/>
                <a:cs typeface="Aptos" pitchFamily="34" charset="-120"/>
              </a:rPr>
              <a:t>Student attempt</a:t>
            </a:r>
            <a:endParaRPr lang="en-US" sz="2200" dirty="0"/>
          </a:p>
        </p:txBody>
      </p:sp>
      <p:sp>
        <p:nvSpPr>
          <p:cNvPr id="15" name="Text 13"/>
          <p:cNvSpPr txBox="1"/>
          <p:nvPr/>
        </p:nvSpPr>
        <p:spPr>
          <a:xfrm>
            <a:off x="4809744" y="3621024"/>
            <a:ext cx="2560320" cy="841248"/>
          </a:xfrm>
          <a:prstGeom prst="rect">
            <a:avLst/>
          </a:prstGeom>
          <a:noFill/>
          <a:ln/>
        </p:spPr>
        <p:txBody>
          <a:bodyPr wrap="square" lIns="0" tIns="0" rIns="0" bIns="0" rtlCol="0" anchor="t">
            <a:normAutofit/>
          </a:bodyPr>
          <a:lstStyle/>
          <a:p>
            <a:pPr algn="l" indent="0" marL="0">
              <a:buNone/>
            </a:pPr>
            <a:r>
              <a:rPr lang="en-US" sz="1550" dirty="0">
                <a:solidFill>
                  <a:srgbClr val="667064"/>
                </a:solidFill>
                <a:latin typeface="Aptos" pitchFamily="34" charset="0"/>
                <a:ea typeface="Aptos" pitchFamily="34" charset="-122"/>
                <a:cs typeface="Aptos" pitchFamily="34" charset="-120"/>
              </a:rPr>
              <a:t>The student answers once—by dictation or pasted text—inside one saved project.</a:t>
            </a:r>
            <a:endParaRPr lang="en-US" sz="1550" dirty="0"/>
          </a:p>
        </p:txBody>
      </p:sp>
      <p:sp>
        <p:nvSpPr>
          <p:cNvPr id="16" name="Shape 14"/>
          <p:cNvSpPr/>
          <p:nvPr/>
        </p:nvSpPr>
        <p:spPr>
          <a:xfrm>
            <a:off x="7845552" y="3557016"/>
            <a:ext cx="512064" cy="0"/>
          </a:xfrm>
          <a:prstGeom prst="line">
            <a:avLst/>
          </a:prstGeom>
          <a:noFill/>
          <a:ln w="30480">
            <a:solidFill>
              <a:srgbClr val="2F6A25"/>
            </a:solidFill>
            <a:prstDash val="solid"/>
            <a:headEnd type="none"/>
            <a:tailEnd type="triangle"/>
          </a:ln>
        </p:spPr>
      </p:sp>
      <p:sp>
        <p:nvSpPr>
          <p:cNvPr id="17" name="Shape 15"/>
          <p:cNvSpPr/>
          <p:nvPr/>
        </p:nvSpPr>
        <p:spPr>
          <a:xfrm>
            <a:off x="8430768" y="2139696"/>
            <a:ext cx="3108960" cy="2852928"/>
          </a:xfrm>
          <a:prstGeom prst="roundRect">
            <a:avLst>
              <a:gd name="adj" fmla="val 5769"/>
            </a:avLst>
          </a:prstGeom>
          <a:solidFill>
            <a:srgbClr val="DDF1F6"/>
          </a:solidFill>
          <a:ln w="10160">
            <a:solidFill>
              <a:srgbClr val="1984A6"/>
            </a:solidFill>
            <a:prstDash val="solid"/>
          </a:ln>
        </p:spPr>
      </p:sp>
      <p:sp>
        <p:nvSpPr>
          <p:cNvPr id="18" name="Shape 16"/>
          <p:cNvSpPr/>
          <p:nvPr/>
        </p:nvSpPr>
        <p:spPr>
          <a:xfrm>
            <a:off x="8686800" y="2395728"/>
            <a:ext cx="438912" cy="310896"/>
          </a:xfrm>
          <a:prstGeom prst="roundRect">
            <a:avLst>
              <a:gd name="adj" fmla="val 50000"/>
            </a:avLst>
          </a:prstGeom>
          <a:solidFill>
            <a:srgbClr val="1984A6"/>
          </a:solidFill>
          <a:ln w="10160">
            <a:solidFill>
              <a:srgbClr val="1984A6"/>
            </a:solidFill>
            <a:prstDash val="solid"/>
          </a:ln>
        </p:spPr>
      </p:sp>
      <p:sp>
        <p:nvSpPr>
          <p:cNvPr id="19" name="Text 17"/>
          <p:cNvSpPr txBox="1"/>
          <p:nvPr/>
        </p:nvSpPr>
        <p:spPr>
          <a:xfrm>
            <a:off x="8796528" y="2414016"/>
            <a:ext cx="219456"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FFFFFF"/>
                </a:solidFill>
                <a:latin typeface="Aptos" pitchFamily="34" charset="0"/>
                <a:ea typeface="Aptos" pitchFamily="34" charset="-122"/>
                <a:cs typeface="Aptos" pitchFamily="34" charset="-120"/>
              </a:rPr>
              <a:t>3</a:t>
            </a:r>
            <a:endParaRPr lang="en-US" sz="1050" dirty="0"/>
          </a:p>
        </p:txBody>
      </p:sp>
      <p:sp>
        <p:nvSpPr>
          <p:cNvPr id="20" name="Text 18"/>
          <p:cNvSpPr txBox="1"/>
          <p:nvPr/>
        </p:nvSpPr>
        <p:spPr>
          <a:xfrm>
            <a:off x="8705088" y="3054096"/>
            <a:ext cx="2560320" cy="420624"/>
          </a:xfrm>
          <a:prstGeom prst="rect">
            <a:avLst/>
          </a:prstGeom>
          <a:noFill/>
          <a:ln/>
        </p:spPr>
        <p:txBody>
          <a:bodyPr wrap="square" lIns="0" tIns="0" rIns="0" bIns="0" rtlCol="0" anchor="t">
            <a:normAutofit/>
          </a:bodyPr>
          <a:lstStyle/>
          <a:p>
            <a:pPr algn="l" indent="0" marL="0">
              <a:buNone/>
            </a:pPr>
            <a:r>
              <a:rPr lang="en-US" sz="2200" b="1" dirty="0">
                <a:solidFill>
                  <a:srgbClr val="171A16"/>
                </a:solidFill>
                <a:latin typeface="Aptos" pitchFamily="34" charset="0"/>
                <a:ea typeface="Aptos" pitchFamily="34" charset="-122"/>
                <a:cs typeface="Aptos" pitchFamily="34" charset="-120"/>
              </a:rPr>
              <a:t>Traceable gap</a:t>
            </a:r>
            <a:endParaRPr lang="en-US" sz="2200" dirty="0"/>
          </a:p>
        </p:txBody>
      </p:sp>
      <p:sp>
        <p:nvSpPr>
          <p:cNvPr id="21" name="Text 19"/>
          <p:cNvSpPr txBox="1"/>
          <p:nvPr/>
        </p:nvSpPr>
        <p:spPr>
          <a:xfrm>
            <a:off x="8705088" y="3621024"/>
            <a:ext cx="2560320" cy="841248"/>
          </a:xfrm>
          <a:prstGeom prst="rect">
            <a:avLst/>
          </a:prstGeom>
          <a:noFill/>
          <a:ln/>
        </p:spPr>
        <p:txBody>
          <a:bodyPr wrap="square" lIns="0" tIns="0" rIns="0" bIns="0" rtlCol="0" anchor="t">
            <a:normAutofit/>
          </a:bodyPr>
          <a:lstStyle/>
          <a:p>
            <a:pPr algn="l" indent="0" marL="0">
              <a:buNone/>
            </a:pPr>
            <a:r>
              <a:rPr lang="en-US" sz="1550" dirty="0">
                <a:solidFill>
                  <a:srgbClr val="667064"/>
                </a:solidFill>
                <a:latin typeface="Aptos" pitchFamily="34" charset="0"/>
                <a:ea typeface="Aptos" pitchFamily="34" charset="-122"/>
                <a:cs typeface="Aptos" pitchFamily="34" charset="-120"/>
              </a:rPr>
              <a:t>Each verdict must quote the transcript or name the evidence still missing.</a:t>
            </a:r>
            <a:endParaRPr lang="en-US" sz="1550" dirty="0"/>
          </a:p>
        </p:txBody>
      </p:sp>
      <p:sp>
        <p:nvSpPr>
          <p:cNvPr id="22" name="Text 20"/>
          <p:cNvSpPr txBox="1"/>
          <p:nvPr/>
        </p:nvSpPr>
        <p:spPr>
          <a:xfrm>
            <a:off x="1005840" y="5285232"/>
            <a:ext cx="10149840" cy="384048"/>
          </a:xfrm>
          <a:prstGeom prst="rect">
            <a:avLst/>
          </a:prstGeom>
          <a:noFill/>
          <a:ln/>
        </p:spPr>
        <p:txBody>
          <a:bodyPr wrap="square" lIns="0" tIns="0" rIns="0" bIns="0" rtlCol="0" anchor="ctr">
            <a:normAutofit/>
          </a:bodyPr>
          <a:lstStyle/>
          <a:p>
            <a:pPr algn="ctr" indent="0" marL="0">
              <a:buNone/>
            </a:pPr>
            <a:r>
              <a:rPr lang="en-US" sz="1550" b="1" dirty="0">
                <a:solidFill>
                  <a:srgbClr val="1E4A19"/>
                </a:solidFill>
                <a:latin typeface="Aptos" pitchFamily="34" charset="0"/>
                <a:ea typeface="Aptos" pitchFamily="34" charset="-122"/>
                <a:cs typeface="Aptos" pitchFamily="34" charset="-120"/>
              </a:rPr>
              <a:t>Not a confidence score. Not body-language scoring. Not a promise that the model “understands you.”</a:t>
            </a:r>
            <a:endParaRPr lang="en-US" sz="1550" dirty="0"/>
          </a:p>
        </p:txBody>
      </p:sp>
      <p:sp>
        <p:nvSpPr>
          <p:cNvPr id="23" name="Text 21"/>
          <p:cNvSpPr/>
          <p:nvPr/>
        </p:nvSpPr>
        <p:spPr>
          <a:xfrm>
            <a:off x="621792" y="6217920"/>
            <a:ext cx="10881360" cy="164592"/>
          </a:xfrm>
          <a:prstGeom prst="rect">
            <a:avLst/>
          </a:prstGeom>
          <a:noFill/>
          <a:ln/>
        </p:spPr>
        <p:txBody>
          <a:bodyPr wrap="square" lIns="0" tIns="0" rIns="0" bIns="0" rtlCol="0" anchor="ctr">
            <a:normAutofit/>
          </a:bodyPr>
          <a:lstStyle/>
          <a:p>
            <a:pPr algn="l" indent="0" marL="0">
              <a:buNone/>
            </a:pPr>
            <a:r>
              <a:rPr lang="en-US" sz="820" i="1" dirty="0">
                <a:solidFill>
                  <a:srgbClr val="667064"/>
                </a:solidFill>
                <a:latin typeface="Aptos" pitchFamily="34" charset="0"/>
                <a:ea typeface="Aptos" pitchFamily="34" charset="-122"/>
                <a:cs typeface="Aptos" pitchFamily="34" charset="-120"/>
              </a:rPr>
              <a:t>Product boundary: Talk-Active Finals scope · docs/specs/2026-08-10-innovation-week.md</a:t>
            </a:r>
            <a:endParaRPr lang="en-US" sz="82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384048"/>
            <a:ext cx="4389120" cy="219456"/>
          </a:xfrm>
          <a:prstGeom prst="rect">
            <a:avLst/>
          </a:prstGeom>
          <a:noFill/>
          <a:ln/>
        </p:spPr>
        <p:txBody>
          <a:bodyPr wrap="square" lIns="0" tIns="0" rIns="0" bIns="0" rtlCol="0" anchor="ctr">
            <a:normAutofit/>
          </a:bodyPr>
          <a:lstStyle/>
          <a:p>
            <a:pPr algn="l" indent="0" marL="0">
              <a:buNone/>
            </a:pPr>
            <a:r>
              <a:rPr lang="en-US" sz="1050" b="1" spc="180" kern="0" dirty="0">
                <a:solidFill>
                  <a:srgbClr val="2F6A25"/>
                </a:solidFill>
                <a:latin typeface="Aptos" pitchFamily="34" charset="0"/>
                <a:ea typeface="Aptos" pitchFamily="34" charset="-122"/>
                <a:cs typeface="Aptos" pitchFamily="34" charset="-120"/>
              </a:rPr>
              <a:t>PRODUCT</a:t>
            </a:r>
            <a:endParaRPr lang="en-US" sz="1050" dirty="0"/>
          </a:p>
        </p:txBody>
      </p:sp>
      <p:sp>
        <p:nvSpPr>
          <p:cNvPr id="3" name="Text 1"/>
          <p:cNvSpPr txBox="1"/>
          <p:nvPr/>
        </p:nvSpPr>
        <p:spPr>
          <a:xfrm>
            <a:off x="594360" y="676656"/>
            <a:ext cx="10972800" cy="731520"/>
          </a:xfrm>
          <a:prstGeom prst="rect">
            <a:avLst/>
          </a:prstGeom>
          <a:noFill/>
          <a:ln/>
        </p:spPr>
        <p:txBody>
          <a:bodyPr wrap="square" lIns="0" tIns="0" rIns="0" bIns="0" rtlCol="0" anchor="t">
            <a:normAutofit/>
          </a:bodyPr>
          <a:lstStyle/>
          <a:p>
            <a:pPr algn="l" indent="0" marL="0">
              <a:buNone/>
            </a:pPr>
            <a:r>
              <a:rPr lang="en-US" sz="3500" b="1" dirty="0">
                <a:solidFill>
                  <a:srgbClr val="171A16"/>
                </a:solidFill>
                <a:latin typeface="Aptos Display" pitchFamily="34" charset="0"/>
                <a:ea typeface="Aptos Display" pitchFamily="34" charset="-122"/>
                <a:cs typeface="Aptos Display" pitchFamily="34" charset="-120"/>
              </a:rPr>
              <a:t>One loop: from rubric to the hardest next question.</a:t>
            </a:r>
            <a:endParaRPr lang="en-US" sz="3500" dirty="0"/>
          </a:p>
        </p:txBody>
      </p:sp>
      <p:sp>
        <p:nvSpPr>
          <p:cNvPr id="4" name="Text 2"/>
          <p:cNvSpPr txBox="1"/>
          <p:nvPr/>
        </p:nvSpPr>
        <p:spPr>
          <a:xfrm>
            <a:off x="621792" y="1408176"/>
            <a:ext cx="10789920" cy="429768"/>
          </a:xfrm>
          <a:prstGeom prst="rect">
            <a:avLst/>
          </a:prstGeom>
          <a:noFill/>
          <a:ln/>
        </p:spPr>
        <p:txBody>
          <a:bodyPr wrap="square" lIns="0" tIns="0" rIns="0" bIns="0" rtlCol="0" anchor="t">
            <a:normAutofit/>
          </a:bodyPr>
          <a:lstStyle/>
          <a:p>
            <a:pPr algn="l" indent="0" marL="0">
              <a:buNone/>
            </a:pPr>
            <a:r>
              <a:rPr lang="en-US" sz="1650" dirty="0">
                <a:solidFill>
                  <a:srgbClr val="667064"/>
                </a:solidFill>
                <a:latin typeface="Aptos" pitchFamily="34" charset="0"/>
                <a:ea typeface="Aptos" pitchFamily="34" charset="-122"/>
                <a:cs typeface="Aptos" pitchFamily="34" charset="-120"/>
              </a:rPr>
              <a:t>Everything else is supporting context.</a:t>
            </a:r>
            <a:endParaRPr lang="en-US" sz="1650" dirty="0"/>
          </a:p>
        </p:txBody>
      </p:sp>
      <p:sp>
        <p:nvSpPr>
          <p:cNvPr id="5" name="Shape 3"/>
          <p:cNvSpPr/>
          <p:nvPr/>
        </p:nvSpPr>
        <p:spPr>
          <a:xfrm>
            <a:off x="621792" y="2057400"/>
            <a:ext cx="1591056" cy="2395728"/>
          </a:xfrm>
          <a:prstGeom prst="roundRect">
            <a:avLst>
              <a:gd name="adj" fmla="val 10345"/>
            </a:avLst>
          </a:prstGeom>
          <a:solidFill>
            <a:srgbClr val="F2F0E8"/>
          </a:solidFill>
          <a:ln w="10160">
            <a:solidFill>
              <a:srgbClr val="D8DCCF"/>
            </a:solidFill>
            <a:prstDash val="solid"/>
          </a:ln>
        </p:spPr>
      </p:sp>
      <p:sp>
        <p:nvSpPr>
          <p:cNvPr id="6" name="Shape 4"/>
          <p:cNvSpPr/>
          <p:nvPr/>
        </p:nvSpPr>
        <p:spPr>
          <a:xfrm>
            <a:off x="786384" y="2240280"/>
            <a:ext cx="420624" cy="310896"/>
          </a:xfrm>
          <a:prstGeom prst="roundRect">
            <a:avLst>
              <a:gd name="adj" fmla="val 50000"/>
            </a:avLst>
          </a:prstGeom>
          <a:solidFill>
            <a:srgbClr val="F4C72F"/>
          </a:solidFill>
          <a:ln w="10160">
            <a:solidFill>
              <a:srgbClr val="F4C72F"/>
            </a:solidFill>
            <a:prstDash val="solid"/>
          </a:ln>
        </p:spPr>
      </p:sp>
      <p:sp>
        <p:nvSpPr>
          <p:cNvPr id="7" name="Text 5"/>
          <p:cNvSpPr txBox="1"/>
          <p:nvPr/>
        </p:nvSpPr>
        <p:spPr>
          <a:xfrm>
            <a:off x="896112" y="2258568"/>
            <a:ext cx="201168"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1</a:t>
            </a:r>
            <a:endParaRPr lang="en-US" sz="1050" dirty="0"/>
          </a:p>
        </p:txBody>
      </p:sp>
      <p:sp>
        <p:nvSpPr>
          <p:cNvPr id="8" name="Text 6"/>
          <p:cNvSpPr txBox="1"/>
          <p:nvPr/>
        </p:nvSpPr>
        <p:spPr>
          <a:xfrm>
            <a:off x="786384" y="2770632"/>
            <a:ext cx="1261872" cy="365760"/>
          </a:xfrm>
          <a:prstGeom prst="rect">
            <a:avLst/>
          </a:prstGeom>
          <a:noFill/>
          <a:ln/>
        </p:spPr>
        <p:txBody>
          <a:bodyPr wrap="square" lIns="0" tIns="0" rIns="0" bIns="0" rtlCol="0" anchor="t">
            <a:normAutofit/>
          </a:bodyPr>
          <a:lstStyle/>
          <a:p>
            <a:pPr algn="l" indent="0" marL="0">
              <a:buNone/>
            </a:pPr>
            <a:r>
              <a:rPr lang="en-US" sz="1800" b="1" dirty="0">
                <a:solidFill>
                  <a:srgbClr val="171A16"/>
                </a:solidFill>
                <a:latin typeface="Aptos" pitchFamily="34" charset="0"/>
                <a:ea typeface="Aptos" pitchFamily="34" charset="-122"/>
                <a:cs typeface="Aptos" pitchFamily="34" charset="-120"/>
              </a:rPr>
              <a:t>Project</a:t>
            </a:r>
            <a:endParaRPr lang="en-US" sz="1800" dirty="0"/>
          </a:p>
        </p:txBody>
      </p:sp>
      <p:sp>
        <p:nvSpPr>
          <p:cNvPr id="9" name="Text 7"/>
          <p:cNvSpPr txBox="1"/>
          <p:nvPr/>
        </p:nvSpPr>
        <p:spPr>
          <a:xfrm>
            <a:off x="786384" y="3246120"/>
            <a:ext cx="1261872" cy="859536"/>
          </a:xfrm>
          <a:prstGeom prst="rect">
            <a:avLst/>
          </a:prstGeom>
          <a:noFill/>
          <a:ln/>
        </p:spPr>
        <p:txBody>
          <a:bodyPr wrap="square" lIns="0" tIns="0" rIns="0" bIns="0" rtlCol="0" anchor="t">
            <a:normAutofit/>
          </a:bodyPr>
          <a:lstStyle/>
          <a:p>
            <a:pPr algn="l" indent="0" marL="0">
              <a:buNone/>
            </a:pPr>
            <a:r>
              <a:rPr lang="en-US" sz="1250" dirty="0">
                <a:solidFill>
                  <a:srgbClr val="667064"/>
                </a:solidFill>
                <a:latin typeface="Aptos" pitchFamily="34" charset="0"/>
                <a:ea typeface="Aptos" pitchFamily="34" charset="-122"/>
                <a:cs typeface="Aptos" pitchFamily="34" charset="-120"/>
              </a:rPr>
              <a:t>Keep one evaluation context together.</a:t>
            </a:r>
            <a:endParaRPr lang="en-US" sz="1250" dirty="0"/>
          </a:p>
        </p:txBody>
      </p:sp>
      <p:sp>
        <p:nvSpPr>
          <p:cNvPr id="10" name="Shape 8"/>
          <p:cNvSpPr/>
          <p:nvPr/>
        </p:nvSpPr>
        <p:spPr>
          <a:xfrm>
            <a:off x="2240280" y="3246120"/>
            <a:ext cx="228600" cy="0"/>
          </a:xfrm>
          <a:prstGeom prst="line">
            <a:avLst/>
          </a:prstGeom>
          <a:noFill/>
          <a:ln w="30480">
            <a:solidFill>
              <a:srgbClr val="2F6A25"/>
            </a:solidFill>
            <a:prstDash val="solid"/>
            <a:headEnd type="none"/>
            <a:tailEnd type="triangle"/>
          </a:ln>
        </p:spPr>
      </p:sp>
      <p:sp>
        <p:nvSpPr>
          <p:cNvPr id="11" name="Shape 9"/>
          <p:cNvSpPr/>
          <p:nvPr/>
        </p:nvSpPr>
        <p:spPr>
          <a:xfrm>
            <a:off x="2523744" y="2779776"/>
            <a:ext cx="1591056" cy="2395728"/>
          </a:xfrm>
          <a:prstGeom prst="roundRect">
            <a:avLst>
              <a:gd name="adj" fmla="val 10345"/>
            </a:avLst>
          </a:prstGeom>
          <a:solidFill>
            <a:srgbClr val="F2F0E8"/>
          </a:solidFill>
          <a:ln w="10160">
            <a:solidFill>
              <a:srgbClr val="D8DCCF"/>
            </a:solidFill>
            <a:prstDash val="solid"/>
          </a:ln>
        </p:spPr>
      </p:sp>
      <p:sp>
        <p:nvSpPr>
          <p:cNvPr id="12" name="Shape 10"/>
          <p:cNvSpPr/>
          <p:nvPr/>
        </p:nvSpPr>
        <p:spPr>
          <a:xfrm>
            <a:off x="2688336" y="2962656"/>
            <a:ext cx="420624" cy="310896"/>
          </a:xfrm>
          <a:prstGeom prst="roundRect">
            <a:avLst>
              <a:gd name="adj" fmla="val 50000"/>
            </a:avLst>
          </a:prstGeom>
          <a:solidFill>
            <a:srgbClr val="F4C72F"/>
          </a:solidFill>
          <a:ln w="10160">
            <a:solidFill>
              <a:srgbClr val="F4C72F"/>
            </a:solidFill>
            <a:prstDash val="solid"/>
          </a:ln>
        </p:spPr>
      </p:sp>
      <p:sp>
        <p:nvSpPr>
          <p:cNvPr id="13" name="Text 11"/>
          <p:cNvSpPr txBox="1"/>
          <p:nvPr/>
        </p:nvSpPr>
        <p:spPr>
          <a:xfrm>
            <a:off x="2798064" y="2980944"/>
            <a:ext cx="201168"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2</a:t>
            </a:r>
            <a:endParaRPr lang="en-US" sz="1050" dirty="0"/>
          </a:p>
        </p:txBody>
      </p:sp>
      <p:sp>
        <p:nvSpPr>
          <p:cNvPr id="14" name="Text 12"/>
          <p:cNvSpPr txBox="1"/>
          <p:nvPr/>
        </p:nvSpPr>
        <p:spPr>
          <a:xfrm>
            <a:off x="2688336" y="3493008"/>
            <a:ext cx="1261872" cy="365760"/>
          </a:xfrm>
          <a:prstGeom prst="rect">
            <a:avLst/>
          </a:prstGeom>
          <a:noFill/>
          <a:ln/>
        </p:spPr>
        <p:txBody>
          <a:bodyPr wrap="square" lIns="0" tIns="0" rIns="0" bIns="0" rtlCol="0" anchor="t">
            <a:normAutofit/>
          </a:bodyPr>
          <a:lstStyle/>
          <a:p>
            <a:pPr algn="l" indent="0" marL="0">
              <a:buNone/>
            </a:pPr>
            <a:r>
              <a:rPr lang="en-US" sz="1800" b="1" dirty="0">
                <a:solidFill>
                  <a:srgbClr val="171A16"/>
                </a:solidFill>
                <a:latin typeface="Aptos" pitchFamily="34" charset="0"/>
                <a:ea typeface="Aptos" pitchFamily="34" charset="-122"/>
                <a:cs typeface="Aptos" pitchFamily="34" charset="-120"/>
              </a:rPr>
              <a:t>Rubric</a:t>
            </a:r>
            <a:endParaRPr lang="en-US" sz="1800" dirty="0"/>
          </a:p>
        </p:txBody>
      </p:sp>
      <p:sp>
        <p:nvSpPr>
          <p:cNvPr id="15" name="Text 13"/>
          <p:cNvSpPr txBox="1"/>
          <p:nvPr/>
        </p:nvSpPr>
        <p:spPr>
          <a:xfrm>
            <a:off x="2688336" y="3968496"/>
            <a:ext cx="1261872" cy="859536"/>
          </a:xfrm>
          <a:prstGeom prst="rect">
            <a:avLst/>
          </a:prstGeom>
          <a:noFill/>
          <a:ln/>
        </p:spPr>
        <p:txBody>
          <a:bodyPr wrap="square" lIns="0" tIns="0" rIns="0" bIns="0" rtlCol="0" anchor="t">
            <a:normAutofit/>
          </a:bodyPr>
          <a:lstStyle/>
          <a:p>
            <a:pPr algn="l" indent="0" marL="0">
              <a:buNone/>
            </a:pPr>
            <a:r>
              <a:rPr lang="en-US" sz="1250" dirty="0">
                <a:solidFill>
                  <a:srgbClr val="667064"/>
                </a:solidFill>
                <a:latin typeface="Aptos" pitchFamily="34" charset="0"/>
                <a:ea typeface="Aptos" pitchFamily="34" charset="-122"/>
                <a:cs typeface="Aptos" pitchFamily="34" charset="-120"/>
              </a:rPr>
              <a:t>Paste criteria or import a scoring matrix.</a:t>
            </a:r>
            <a:endParaRPr lang="en-US" sz="1250" dirty="0"/>
          </a:p>
        </p:txBody>
      </p:sp>
      <p:sp>
        <p:nvSpPr>
          <p:cNvPr id="16" name="Shape 14"/>
          <p:cNvSpPr/>
          <p:nvPr/>
        </p:nvSpPr>
        <p:spPr>
          <a:xfrm>
            <a:off x="4142232" y="3968496"/>
            <a:ext cx="228600" cy="0"/>
          </a:xfrm>
          <a:prstGeom prst="line">
            <a:avLst/>
          </a:prstGeom>
          <a:noFill/>
          <a:ln w="30480">
            <a:solidFill>
              <a:srgbClr val="2F6A25"/>
            </a:solidFill>
            <a:prstDash val="solid"/>
            <a:headEnd type="none"/>
            <a:tailEnd type="triangle"/>
          </a:ln>
        </p:spPr>
      </p:sp>
      <p:sp>
        <p:nvSpPr>
          <p:cNvPr id="17" name="Shape 15"/>
          <p:cNvSpPr/>
          <p:nvPr/>
        </p:nvSpPr>
        <p:spPr>
          <a:xfrm>
            <a:off x="4425696" y="2057400"/>
            <a:ext cx="1591056" cy="2395728"/>
          </a:xfrm>
          <a:prstGeom prst="roundRect">
            <a:avLst>
              <a:gd name="adj" fmla="val 10345"/>
            </a:avLst>
          </a:prstGeom>
          <a:solidFill>
            <a:srgbClr val="F2F0E8"/>
          </a:solidFill>
          <a:ln w="10160">
            <a:solidFill>
              <a:srgbClr val="D8DCCF"/>
            </a:solidFill>
            <a:prstDash val="solid"/>
          </a:ln>
        </p:spPr>
      </p:sp>
      <p:sp>
        <p:nvSpPr>
          <p:cNvPr id="18" name="Shape 16"/>
          <p:cNvSpPr/>
          <p:nvPr/>
        </p:nvSpPr>
        <p:spPr>
          <a:xfrm>
            <a:off x="4590288" y="2240280"/>
            <a:ext cx="420624" cy="310896"/>
          </a:xfrm>
          <a:prstGeom prst="roundRect">
            <a:avLst>
              <a:gd name="adj" fmla="val 50000"/>
            </a:avLst>
          </a:prstGeom>
          <a:solidFill>
            <a:srgbClr val="F4C72F"/>
          </a:solidFill>
          <a:ln w="10160">
            <a:solidFill>
              <a:srgbClr val="F4C72F"/>
            </a:solidFill>
            <a:prstDash val="solid"/>
          </a:ln>
        </p:spPr>
      </p:sp>
      <p:sp>
        <p:nvSpPr>
          <p:cNvPr id="19" name="Text 17"/>
          <p:cNvSpPr txBox="1"/>
          <p:nvPr/>
        </p:nvSpPr>
        <p:spPr>
          <a:xfrm>
            <a:off x="4700016" y="2258568"/>
            <a:ext cx="201168"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3</a:t>
            </a:r>
            <a:endParaRPr lang="en-US" sz="1050" dirty="0"/>
          </a:p>
        </p:txBody>
      </p:sp>
      <p:sp>
        <p:nvSpPr>
          <p:cNvPr id="20" name="Text 18"/>
          <p:cNvSpPr txBox="1"/>
          <p:nvPr/>
        </p:nvSpPr>
        <p:spPr>
          <a:xfrm>
            <a:off x="4590288" y="2770632"/>
            <a:ext cx="1261872" cy="365760"/>
          </a:xfrm>
          <a:prstGeom prst="rect">
            <a:avLst/>
          </a:prstGeom>
          <a:noFill/>
          <a:ln/>
        </p:spPr>
        <p:txBody>
          <a:bodyPr wrap="square" lIns="0" tIns="0" rIns="0" bIns="0" rtlCol="0" anchor="t">
            <a:normAutofit/>
          </a:bodyPr>
          <a:lstStyle/>
          <a:p>
            <a:pPr algn="l" indent="0" marL="0">
              <a:buNone/>
            </a:pPr>
            <a:r>
              <a:rPr lang="en-US" sz="1800" b="1" dirty="0">
                <a:solidFill>
                  <a:srgbClr val="171A16"/>
                </a:solidFill>
                <a:latin typeface="Aptos" pitchFamily="34" charset="0"/>
                <a:ea typeface="Aptos" pitchFamily="34" charset="-122"/>
                <a:cs typeface="Aptos" pitchFamily="34" charset="-120"/>
              </a:rPr>
              <a:t>Attempt</a:t>
            </a:r>
            <a:endParaRPr lang="en-US" sz="1800" dirty="0"/>
          </a:p>
        </p:txBody>
      </p:sp>
      <p:sp>
        <p:nvSpPr>
          <p:cNvPr id="21" name="Text 19"/>
          <p:cNvSpPr txBox="1"/>
          <p:nvPr/>
        </p:nvSpPr>
        <p:spPr>
          <a:xfrm>
            <a:off x="4590288" y="3246120"/>
            <a:ext cx="1261872" cy="859536"/>
          </a:xfrm>
          <a:prstGeom prst="rect">
            <a:avLst/>
          </a:prstGeom>
          <a:noFill/>
          <a:ln/>
        </p:spPr>
        <p:txBody>
          <a:bodyPr wrap="square" lIns="0" tIns="0" rIns="0" bIns="0" rtlCol="0" anchor="t">
            <a:normAutofit/>
          </a:bodyPr>
          <a:lstStyle/>
          <a:p>
            <a:pPr algn="l" indent="0" marL="0">
              <a:buNone/>
            </a:pPr>
            <a:r>
              <a:rPr lang="en-US" sz="1250" dirty="0">
                <a:solidFill>
                  <a:srgbClr val="667064"/>
                </a:solidFill>
                <a:latin typeface="Aptos" pitchFamily="34" charset="0"/>
                <a:ea typeface="Aptos" pitchFamily="34" charset="-122"/>
                <a:cs typeface="Aptos" pitchFamily="34" charset="-120"/>
              </a:rPr>
              <a:t>Dictate or paste a rehearsal.</a:t>
            </a:r>
            <a:endParaRPr lang="en-US" sz="1250" dirty="0"/>
          </a:p>
        </p:txBody>
      </p:sp>
      <p:sp>
        <p:nvSpPr>
          <p:cNvPr id="22" name="Shape 20"/>
          <p:cNvSpPr/>
          <p:nvPr/>
        </p:nvSpPr>
        <p:spPr>
          <a:xfrm>
            <a:off x="6044184" y="3246120"/>
            <a:ext cx="228600" cy="0"/>
          </a:xfrm>
          <a:prstGeom prst="line">
            <a:avLst/>
          </a:prstGeom>
          <a:noFill/>
          <a:ln w="30480">
            <a:solidFill>
              <a:srgbClr val="2F6A25"/>
            </a:solidFill>
            <a:prstDash val="solid"/>
            <a:headEnd type="none"/>
            <a:tailEnd type="triangle"/>
          </a:ln>
        </p:spPr>
      </p:sp>
      <p:sp>
        <p:nvSpPr>
          <p:cNvPr id="23" name="Shape 21"/>
          <p:cNvSpPr/>
          <p:nvPr/>
        </p:nvSpPr>
        <p:spPr>
          <a:xfrm>
            <a:off x="6327648" y="2779776"/>
            <a:ext cx="1591056" cy="2395728"/>
          </a:xfrm>
          <a:prstGeom prst="roundRect">
            <a:avLst>
              <a:gd name="adj" fmla="val 10345"/>
            </a:avLst>
          </a:prstGeom>
          <a:solidFill>
            <a:srgbClr val="DDF1F6"/>
          </a:solidFill>
          <a:ln w="10160">
            <a:solidFill>
              <a:srgbClr val="1984A6"/>
            </a:solidFill>
            <a:prstDash val="solid"/>
          </a:ln>
        </p:spPr>
      </p:sp>
      <p:sp>
        <p:nvSpPr>
          <p:cNvPr id="24" name="Shape 22"/>
          <p:cNvSpPr/>
          <p:nvPr/>
        </p:nvSpPr>
        <p:spPr>
          <a:xfrm>
            <a:off x="6492240" y="2962656"/>
            <a:ext cx="420624" cy="310896"/>
          </a:xfrm>
          <a:prstGeom prst="roundRect">
            <a:avLst>
              <a:gd name="adj" fmla="val 50000"/>
            </a:avLst>
          </a:prstGeom>
          <a:solidFill>
            <a:srgbClr val="1984A6"/>
          </a:solidFill>
          <a:ln w="10160">
            <a:solidFill>
              <a:srgbClr val="1984A6"/>
            </a:solidFill>
            <a:prstDash val="solid"/>
          </a:ln>
        </p:spPr>
      </p:sp>
      <p:sp>
        <p:nvSpPr>
          <p:cNvPr id="25" name="Text 23"/>
          <p:cNvSpPr txBox="1"/>
          <p:nvPr/>
        </p:nvSpPr>
        <p:spPr>
          <a:xfrm>
            <a:off x="6601968" y="2980944"/>
            <a:ext cx="201168"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FFFFFF"/>
                </a:solidFill>
                <a:latin typeface="Aptos" pitchFamily="34" charset="0"/>
                <a:ea typeface="Aptos" pitchFamily="34" charset="-122"/>
                <a:cs typeface="Aptos" pitchFamily="34" charset="-120"/>
              </a:rPr>
              <a:t>4</a:t>
            </a:r>
            <a:endParaRPr lang="en-US" sz="1050" dirty="0"/>
          </a:p>
        </p:txBody>
      </p:sp>
      <p:sp>
        <p:nvSpPr>
          <p:cNvPr id="26" name="Text 24"/>
          <p:cNvSpPr txBox="1"/>
          <p:nvPr/>
        </p:nvSpPr>
        <p:spPr>
          <a:xfrm>
            <a:off x="6492240" y="3493008"/>
            <a:ext cx="1261872" cy="365760"/>
          </a:xfrm>
          <a:prstGeom prst="rect">
            <a:avLst/>
          </a:prstGeom>
          <a:noFill/>
          <a:ln/>
        </p:spPr>
        <p:txBody>
          <a:bodyPr wrap="square" lIns="0" tIns="0" rIns="0" bIns="0" rtlCol="0" anchor="t">
            <a:normAutofit/>
          </a:bodyPr>
          <a:lstStyle/>
          <a:p>
            <a:pPr algn="l" indent="0" marL="0">
              <a:buNone/>
            </a:pPr>
            <a:r>
              <a:rPr lang="en-US" sz="1800" b="1" dirty="0">
                <a:solidFill>
                  <a:srgbClr val="171A16"/>
                </a:solidFill>
                <a:latin typeface="Aptos" pitchFamily="34" charset="0"/>
                <a:ea typeface="Aptos" pitchFamily="34" charset="-122"/>
                <a:cs typeface="Aptos" pitchFamily="34" charset="-120"/>
              </a:rPr>
              <a:t>Evidence</a:t>
            </a:r>
            <a:endParaRPr lang="en-US" sz="1800" dirty="0"/>
          </a:p>
        </p:txBody>
      </p:sp>
      <p:sp>
        <p:nvSpPr>
          <p:cNvPr id="27" name="Text 25"/>
          <p:cNvSpPr txBox="1"/>
          <p:nvPr/>
        </p:nvSpPr>
        <p:spPr>
          <a:xfrm>
            <a:off x="6492240" y="3968496"/>
            <a:ext cx="1261872" cy="859536"/>
          </a:xfrm>
          <a:prstGeom prst="rect">
            <a:avLst/>
          </a:prstGeom>
          <a:noFill/>
          <a:ln/>
        </p:spPr>
        <p:txBody>
          <a:bodyPr wrap="square" lIns="0" tIns="0" rIns="0" bIns="0" rtlCol="0" anchor="t">
            <a:normAutofit/>
          </a:bodyPr>
          <a:lstStyle/>
          <a:p>
            <a:pPr algn="l" indent="0" marL="0">
              <a:buNone/>
            </a:pPr>
            <a:r>
              <a:rPr lang="en-US" sz="1250" dirty="0">
                <a:solidFill>
                  <a:srgbClr val="667064"/>
                </a:solidFill>
                <a:latin typeface="Aptos" pitchFamily="34" charset="0"/>
                <a:ea typeface="Aptos" pitchFamily="34" charset="-122"/>
                <a:cs typeface="Aptos" pitchFamily="34" charset="-120"/>
              </a:rPr>
              <a:t>See the exact supporting sentence—or the missing cues.</a:t>
            </a:r>
            <a:endParaRPr lang="en-US" sz="1250" dirty="0"/>
          </a:p>
        </p:txBody>
      </p:sp>
      <p:sp>
        <p:nvSpPr>
          <p:cNvPr id="28" name="Shape 26"/>
          <p:cNvSpPr/>
          <p:nvPr/>
        </p:nvSpPr>
        <p:spPr>
          <a:xfrm>
            <a:off x="7946136" y="3968496"/>
            <a:ext cx="228600" cy="0"/>
          </a:xfrm>
          <a:prstGeom prst="line">
            <a:avLst/>
          </a:prstGeom>
          <a:noFill/>
          <a:ln w="30480">
            <a:solidFill>
              <a:srgbClr val="2F6A25"/>
            </a:solidFill>
            <a:prstDash val="solid"/>
            <a:headEnd type="none"/>
            <a:tailEnd type="triangle"/>
          </a:ln>
        </p:spPr>
      </p:sp>
      <p:sp>
        <p:nvSpPr>
          <p:cNvPr id="29" name="Shape 27"/>
          <p:cNvSpPr/>
          <p:nvPr/>
        </p:nvSpPr>
        <p:spPr>
          <a:xfrm>
            <a:off x="8229600" y="2057400"/>
            <a:ext cx="1591056" cy="2395728"/>
          </a:xfrm>
          <a:prstGeom prst="roundRect">
            <a:avLst>
              <a:gd name="adj" fmla="val 10345"/>
            </a:avLst>
          </a:prstGeom>
          <a:solidFill>
            <a:srgbClr val="1E4A19"/>
          </a:solidFill>
          <a:ln w="10160">
            <a:solidFill>
              <a:srgbClr val="1E4A19"/>
            </a:solidFill>
            <a:prstDash val="solid"/>
          </a:ln>
        </p:spPr>
      </p:sp>
      <p:sp>
        <p:nvSpPr>
          <p:cNvPr id="30" name="Shape 28"/>
          <p:cNvSpPr/>
          <p:nvPr/>
        </p:nvSpPr>
        <p:spPr>
          <a:xfrm>
            <a:off x="8394192" y="2240280"/>
            <a:ext cx="420624" cy="310896"/>
          </a:xfrm>
          <a:prstGeom prst="roundRect">
            <a:avLst>
              <a:gd name="adj" fmla="val 50000"/>
            </a:avLst>
          </a:prstGeom>
          <a:solidFill>
            <a:srgbClr val="F4C72F"/>
          </a:solidFill>
          <a:ln w="10160">
            <a:solidFill>
              <a:srgbClr val="F4C72F"/>
            </a:solidFill>
            <a:prstDash val="solid"/>
          </a:ln>
        </p:spPr>
      </p:sp>
      <p:sp>
        <p:nvSpPr>
          <p:cNvPr id="31" name="Text 29"/>
          <p:cNvSpPr txBox="1"/>
          <p:nvPr/>
        </p:nvSpPr>
        <p:spPr>
          <a:xfrm>
            <a:off x="8503920" y="2258568"/>
            <a:ext cx="201168"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5</a:t>
            </a:r>
            <a:endParaRPr lang="en-US" sz="1050" dirty="0"/>
          </a:p>
        </p:txBody>
      </p:sp>
      <p:sp>
        <p:nvSpPr>
          <p:cNvPr id="32" name="Text 30"/>
          <p:cNvSpPr txBox="1"/>
          <p:nvPr/>
        </p:nvSpPr>
        <p:spPr>
          <a:xfrm>
            <a:off x="8394192" y="2770632"/>
            <a:ext cx="1261872" cy="365760"/>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Defend</a:t>
            </a:r>
            <a:endParaRPr lang="en-US" sz="1800" dirty="0"/>
          </a:p>
        </p:txBody>
      </p:sp>
      <p:sp>
        <p:nvSpPr>
          <p:cNvPr id="33" name="Text 31"/>
          <p:cNvSpPr txBox="1"/>
          <p:nvPr/>
        </p:nvSpPr>
        <p:spPr>
          <a:xfrm>
            <a:off x="8394192" y="3246120"/>
            <a:ext cx="1261872" cy="859536"/>
          </a:xfrm>
          <a:prstGeom prst="rect">
            <a:avLst/>
          </a:prstGeom>
          <a:noFill/>
          <a:ln/>
        </p:spPr>
        <p:txBody>
          <a:bodyPr wrap="square" lIns="0" tIns="0" rIns="0" bIns="0" rtlCol="0" anchor="t">
            <a:normAutofit/>
          </a:bodyPr>
          <a:lstStyle/>
          <a:p>
            <a:pPr algn="l" indent="0" marL="0">
              <a:buNone/>
            </a:pPr>
            <a:r>
              <a:rPr lang="en-US" sz="1250" dirty="0">
                <a:solidFill>
                  <a:srgbClr val="D9E9D4"/>
                </a:solidFill>
                <a:latin typeface="Aptos" pitchFamily="34" charset="0"/>
                <a:ea typeface="Aptos" pitchFamily="34" charset="-122"/>
                <a:cs typeface="Aptos" pitchFamily="34" charset="-120"/>
              </a:rPr>
              <a:t>Answer the hardest likely judge question.</a:t>
            </a:r>
            <a:endParaRPr lang="en-US" sz="1250" dirty="0"/>
          </a:p>
        </p:txBody>
      </p:sp>
      <p:sp>
        <p:nvSpPr>
          <p:cNvPr id="34" name="Shape 32"/>
          <p:cNvSpPr/>
          <p:nvPr/>
        </p:nvSpPr>
        <p:spPr>
          <a:xfrm>
            <a:off x="9848088" y="3246120"/>
            <a:ext cx="228600" cy="0"/>
          </a:xfrm>
          <a:prstGeom prst="line">
            <a:avLst/>
          </a:prstGeom>
          <a:noFill/>
          <a:ln w="30480">
            <a:solidFill>
              <a:srgbClr val="2F6A25"/>
            </a:solidFill>
            <a:prstDash val="solid"/>
            <a:headEnd type="none"/>
            <a:tailEnd type="triangle"/>
          </a:ln>
        </p:spPr>
      </p:sp>
      <p:sp>
        <p:nvSpPr>
          <p:cNvPr id="35" name="Shape 33"/>
          <p:cNvSpPr/>
          <p:nvPr/>
        </p:nvSpPr>
        <p:spPr>
          <a:xfrm>
            <a:off x="10131552" y="2779776"/>
            <a:ext cx="1591056" cy="2395728"/>
          </a:xfrm>
          <a:prstGeom prst="roundRect">
            <a:avLst>
              <a:gd name="adj" fmla="val 10345"/>
            </a:avLst>
          </a:prstGeom>
          <a:solidFill>
            <a:srgbClr val="F2F0E8"/>
          </a:solidFill>
          <a:ln w="10160">
            <a:solidFill>
              <a:srgbClr val="D8DCCF"/>
            </a:solidFill>
            <a:prstDash val="solid"/>
          </a:ln>
        </p:spPr>
      </p:sp>
      <p:sp>
        <p:nvSpPr>
          <p:cNvPr id="36" name="Shape 34"/>
          <p:cNvSpPr/>
          <p:nvPr/>
        </p:nvSpPr>
        <p:spPr>
          <a:xfrm>
            <a:off x="10296144" y="2962656"/>
            <a:ext cx="420624" cy="310896"/>
          </a:xfrm>
          <a:prstGeom prst="roundRect">
            <a:avLst>
              <a:gd name="adj" fmla="val 50000"/>
            </a:avLst>
          </a:prstGeom>
          <a:solidFill>
            <a:srgbClr val="F4C72F"/>
          </a:solidFill>
          <a:ln w="10160">
            <a:solidFill>
              <a:srgbClr val="F4C72F"/>
            </a:solidFill>
            <a:prstDash val="solid"/>
          </a:ln>
        </p:spPr>
      </p:sp>
      <p:sp>
        <p:nvSpPr>
          <p:cNvPr id="37" name="Text 35"/>
          <p:cNvSpPr txBox="1"/>
          <p:nvPr/>
        </p:nvSpPr>
        <p:spPr>
          <a:xfrm>
            <a:off x="10405872" y="2980944"/>
            <a:ext cx="201168"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6</a:t>
            </a:r>
            <a:endParaRPr lang="en-US" sz="1050" dirty="0"/>
          </a:p>
        </p:txBody>
      </p:sp>
      <p:sp>
        <p:nvSpPr>
          <p:cNvPr id="38" name="Text 36"/>
          <p:cNvSpPr txBox="1"/>
          <p:nvPr/>
        </p:nvSpPr>
        <p:spPr>
          <a:xfrm>
            <a:off x="10296144" y="3493008"/>
            <a:ext cx="1261872" cy="365760"/>
          </a:xfrm>
          <a:prstGeom prst="rect">
            <a:avLst/>
          </a:prstGeom>
          <a:noFill/>
          <a:ln/>
        </p:spPr>
        <p:txBody>
          <a:bodyPr wrap="square" lIns="0" tIns="0" rIns="0" bIns="0" rtlCol="0" anchor="t">
            <a:normAutofit/>
          </a:bodyPr>
          <a:lstStyle/>
          <a:p>
            <a:pPr algn="l" indent="0" marL="0">
              <a:buNone/>
            </a:pPr>
            <a:r>
              <a:rPr lang="en-US" sz="1800" b="1" dirty="0">
                <a:solidFill>
                  <a:srgbClr val="171A16"/>
                </a:solidFill>
                <a:latin typeface="Aptos" pitchFamily="34" charset="0"/>
                <a:ea typeface="Aptos" pitchFamily="34" charset="-122"/>
                <a:cs typeface="Aptos" pitchFamily="34" charset="-120"/>
              </a:rPr>
              <a:t>Progress</a:t>
            </a:r>
            <a:endParaRPr lang="en-US" sz="1800" dirty="0"/>
          </a:p>
        </p:txBody>
      </p:sp>
      <p:sp>
        <p:nvSpPr>
          <p:cNvPr id="39" name="Text 37"/>
          <p:cNvSpPr txBox="1"/>
          <p:nvPr/>
        </p:nvSpPr>
        <p:spPr>
          <a:xfrm>
            <a:off x="10296144" y="3968496"/>
            <a:ext cx="1261872" cy="859536"/>
          </a:xfrm>
          <a:prstGeom prst="rect">
            <a:avLst/>
          </a:prstGeom>
          <a:noFill/>
          <a:ln/>
        </p:spPr>
        <p:txBody>
          <a:bodyPr wrap="square" lIns="0" tIns="0" rIns="0" bIns="0" rtlCol="0" anchor="t">
            <a:normAutofit/>
          </a:bodyPr>
          <a:lstStyle/>
          <a:p>
            <a:pPr algn="l" indent="0" marL="0">
              <a:buNone/>
            </a:pPr>
            <a:r>
              <a:rPr lang="en-US" sz="1250" dirty="0">
                <a:solidFill>
                  <a:srgbClr val="667064"/>
                </a:solidFill>
                <a:latin typeface="Aptos" pitchFamily="34" charset="0"/>
                <a:ea typeface="Aptos" pitchFamily="34" charset="-122"/>
                <a:cs typeface="Aptos" pitchFamily="34" charset="-120"/>
              </a:rPr>
              <a:t>Save the gap and retry only that criterion.</a:t>
            </a:r>
            <a:endParaRPr lang="en-US" sz="1250" dirty="0"/>
          </a:p>
        </p:txBody>
      </p:sp>
      <p:sp>
        <p:nvSpPr>
          <p:cNvPr id="40" name="Text 38"/>
          <p:cNvSpPr txBox="1"/>
          <p:nvPr/>
        </p:nvSpPr>
        <p:spPr>
          <a:xfrm>
            <a:off x="6419088" y="5404104"/>
            <a:ext cx="2103120" cy="201168"/>
          </a:xfrm>
          <a:prstGeom prst="rect">
            <a:avLst/>
          </a:prstGeom>
          <a:noFill/>
          <a:ln/>
        </p:spPr>
        <p:txBody>
          <a:bodyPr wrap="square" lIns="0" tIns="0" rIns="0" bIns="0" rtlCol="0" anchor="ctr">
            <a:normAutofit/>
          </a:bodyPr>
          <a:lstStyle/>
          <a:p>
            <a:pPr algn="ctr" indent="0" marL="0">
              <a:buNone/>
            </a:pPr>
            <a:r>
              <a:rPr lang="en-US" sz="950" b="1" spc="140" kern="0" dirty="0">
                <a:solidFill>
                  <a:srgbClr val="1984A6"/>
                </a:solidFill>
                <a:latin typeface="Aptos" pitchFamily="34" charset="0"/>
                <a:ea typeface="Aptos" pitchFamily="34" charset="-122"/>
                <a:cs typeface="Aptos" pitchFamily="34" charset="-120"/>
              </a:rPr>
              <a:t>DIFFERENTIATING MOMENT</a:t>
            </a:r>
            <a:endParaRPr lang="en-US" sz="950" dirty="0"/>
          </a:p>
        </p:txBody>
      </p:sp>
      <p:sp>
        <p:nvSpPr>
          <p:cNvPr id="41" name="Text 39"/>
          <p:cNvSpPr txBox="1"/>
          <p:nvPr/>
        </p:nvSpPr>
        <p:spPr>
          <a:xfrm>
            <a:off x="2743200" y="5733288"/>
            <a:ext cx="6720840" cy="347472"/>
          </a:xfrm>
          <a:prstGeom prst="rect">
            <a:avLst/>
          </a:prstGeom>
          <a:noFill/>
          <a:ln/>
        </p:spPr>
        <p:txBody>
          <a:bodyPr wrap="square" lIns="0" tIns="0" rIns="0" bIns="0" rtlCol="0" anchor="ctr">
            <a:normAutofit/>
          </a:bodyPr>
          <a:lstStyle/>
          <a:p>
            <a:pPr algn="ctr" indent="0" marL="0">
              <a:buNone/>
            </a:pPr>
            <a:r>
              <a:rPr lang="en-US" sz="1500" b="1" dirty="0">
                <a:solidFill>
                  <a:srgbClr val="1E4A19"/>
                </a:solidFill>
                <a:latin typeface="Aptos" pitchFamily="34" charset="0"/>
                <a:ea typeface="Aptos" pitchFamily="34" charset="-122"/>
                <a:cs typeface="Aptos" pitchFamily="34" charset="-120"/>
              </a:rPr>
              <a:t>The evidence card points at the student’s own words; the next drill targets the weakest criterion.</a:t>
            </a:r>
            <a:endParaRPr lang="en-US" sz="150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4A19"/>
        </a:solidFill>
      </p:bgPr>
    </p:bg>
    <p:spTree>
      <p:nvGrpSpPr>
        <p:cNvPr id="1" name=""/>
        <p:cNvGrpSpPr/>
        <p:nvPr/>
      </p:nvGrpSpPr>
      <p:grpSpPr>
        <a:xfrm>
          <a:off x="0" y="0"/>
          <a:ext cx="0" cy="0"/>
          <a:chOff x="0" y="0"/>
          <a:chExt cx="0" cy="0"/>
        </a:xfrm>
      </p:grpSpPr>
      <p:sp>
        <p:nvSpPr>
          <p:cNvPr id="2" name="Text 0"/>
          <p:cNvSpPr txBox="1"/>
          <p:nvPr/>
        </p:nvSpPr>
        <p:spPr>
          <a:xfrm>
            <a:off x="658368" y="493776"/>
            <a:ext cx="2743200" cy="256032"/>
          </a:xfrm>
          <a:prstGeom prst="rect">
            <a:avLst/>
          </a:prstGeom>
          <a:noFill/>
          <a:ln/>
        </p:spPr>
        <p:txBody>
          <a:bodyPr wrap="square" lIns="0" tIns="0" rIns="0" bIns="0" rtlCol="0" anchor="ctr">
            <a:normAutofit/>
          </a:bodyPr>
          <a:lstStyle/>
          <a:p>
            <a:pPr algn="l" indent="0" marL="0">
              <a:buNone/>
            </a:pPr>
            <a:r>
              <a:rPr lang="en-US" sz="1100" b="1" spc="180" kern="0" dirty="0">
                <a:solidFill>
                  <a:srgbClr val="F4C72F"/>
                </a:solidFill>
                <a:latin typeface="Aptos" pitchFamily="34" charset="0"/>
                <a:ea typeface="Aptos" pitchFamily="34" charset="-122"/>
                <a:cs typeface="Aptos" pitchFamily="34" charset="-120"/>
              </a:rPr>
              <a:t>LIVE PRODUCT</a:t>
            </a:r>
            <a:endParaRPr lang="en-US" sz="1100" dirty="0"/>
          </a:p>
        </p:txBody>
      </p:sp>
      <p:sp>
        <p:nvSpPr>
          <p:cNvPr id="3" name="Text 1"/>
          <p:cNvSpPr txBox="1"/>
          <p:nvPr/>
        </p:nvSpPr>
        <p:spPr>
          <a:xfrm>
            <a:off x="621792" y="896112"/>
            <a:ext cx="6949440" cy="694944"/>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Aptos Display" pitchFamily="34" charset="0"/>
                <a:ea typeface="Aptos Display" pitchFamily="34" charset="-122"/>
                <a:cs typeface="Aptos Display" pitchFamily="34" charset="-120"/>
              </a:rPr>
              <a:t>Let’s use your rubric.</a:t>
            </a:r>
            <a:endParaRPr lang="en-US" sz="4300" dirty="0"/>
          </a:p>
        </p:txBody>
      </p:sp>
      <p:sp>
        <p:nvSpPr>
          <p:cNvPr id="4" name="Text 2"/>
          <p:cNvSpPr txBox="1"/>
          <p:nvPr/>
        </p:nvSpPr>
        <p:spPr>
          <a:xfrm>
            <a:off x="658368" y="1645920"/>
            <a:ext cx="7680960" cy="384048"/>
          </a:xfrm>
          <a:prstGeom prst="rect">
            <a:avLst/>
          </a:prstGeom>
          <a:noFill/>
          <a:ln/>
        </p:spPr>
        <p:txBody>
          <a:bodyPr wrap="square" lIns="0" tIns="0" rIns="0" bIns="0" rtlCol="0" anchor="ctr">
            <a:normAutofit/>
          </a:bodyPr>
          <a:lstStyle/>
          <a:p>
            <a:pPr algn="l" indent="0" marL="0">
              <a:buNone/>
            </a:pPr>
            <a:r>
              <a:rPr lang="en-US" sz="1800" dirty="0">
                <a:solidFill>
                  <a:srgbClr val="D4E7CF"/>
                </a:solidFill>
                <a:latin typeface="Aptos" pitchFamily="34" charset="0"/>
                <a:ea typeface="Aptos" pitchFamily="34" charset="-122"/>
                <a:cs typeface="Aptos" pitchFamily="34" charset="-120"/>
              </a:rPr>
              <a:t>Paste → rehearse → inspect the quote → answer the judge</a:t>
            </a:r>
            <a:endParaRPr lang="en-US" sz="1800" dirty="0"/>
          </a:p>
        </p:txBody>
      </p:sp>
      <p:sp>
        <p:nvSpPr>
          <p:cNvPr id="5" name="Shape 3"/>
          <p:cNvSpPr/>
          <p:nvPr/>
        </p:nvSpPr>
        <p:spPr>
          <a:xfrm>
            <a:off x="658368" y="2377440"/>
            <a:ext cx="2103120" cy="1389888"/>
          </a:xfrm>
          <a:prstGeom prst="roundRect">
            <a:avLst>
              <a:gd name="adj" fmla="val 11842"/>
            </a:avLst>
          </a:prstGeom>
          <a:solidFill>
            <a:srgbClr val="2F6A25"/>
          </a:solidFill>
          <a:ln w="10160">
            <a:solidFill>
              <a:srgbClr val="2F6A25"/>
            </a:solidFill>
            <a:prstDash val="solid"/>
          </a:ln>
        </p:spPr>
      </p:sp>
      <p:sp>
        <p:nvSpPr>
          <p:cNvPr id="6" name="Text 4"/>
          <p:cNvSpPr txBox="1"/>
          <p:nvPr/>
        </p:nvSpPr>
        <p:spPr>
          <a:xfrm>
            <a:off x="822960" y="2542032"/>
            <a:ext cx="402336" cy="219456"/>
          </a:xfrm>
          <a:prstGeom prst="rect">
            <a:avLst/>
          </a:prstGeom>
          <a:noFill/>
          <a:ln/>
        </p:spPr>
        <p:txBody>
          <a:bodyPr wrap="square" lIns="0" tIns="0" rIns="0" bIns="0" rtlCol="0" anchor="ctr">
            <a:normAutofit/>
          </a:bodyPr>
          <a:lstStyle/>
          <a:p>
            <a:pPr algn="l" indent="0" marL="0">
              <a:buNone/>
            </a:pPr>
            <a:r>
              <a:rPr lang="en-US" sz="1050" b="1" dirty="0">
                <a:solidFill>
                  <a:srgbClr val="F4C72F"/>
                </a:solidFill>
                <a:latin typeface="Aptos" pitchFamily="34" charset="0"/>
                <a:ea typeface="Aptos" pitchFamily="34" charset="-122"/>
                <a:cs typeface="Aptos" pitchFamily="34" charset="-120"/>
              </a:rPr>
              <a:t>01</a:t>
            </a:r>
            <a:endParaRPr lang="en-US" sz="1050" dirty="0"/>
          </a:p>
        </p:txBody>
      </p:sp>
      <p:sp>
        <p:nvSpPr>
          <p:cNvPr id="7" name="Text 5"/>
          <p:cNvSpPr txBox="1"/>
          <p:nvPr/>
        </p:nvSpPr>
        <p:spPr>
          <a:xfrm>
            <a:off x="822960" y="2834640"/>
            <a:ext cx="1645920" cy="292608"/>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Aptos" pitchFamily="34" charset="0"/>
                <a:ea typeface="Aptos" pitchFamily="34" charset="-122"/>
                <a:cs typeface="Aptos" pitchFamily="34" charset="-120"/>
              </a:rPr>
              <a:t>Import</a:t>
            </a:r>
            <a:endParaRPr lang="en-US" sz="1900" dirty="0"/>
          </a:p>
        </p:txBody>
      </p:sp>
      <p:sp>
        <p:nvSpPr>
          <p:cNvPr id="8" name="Text 6"/>
          <p:cNvSpPr txBox="1"/>
          <p:nvPr/>
        </p:nvSpPr>
        <p:spPr>
          <a:xfrm>
            <a:off x="822960" y="3200400"/>
            <a:ext cx="1682496" cy="256032"/>
          </a:xfrm>
          <a:prstGeom prst="rect">
            <a:avLst/>
          </a:prstGeom>
          <a:noFill/>
          <a:ln/>
        </p:spPr>
        <p:txBody>
          <a:bodyPr wrap="square" lIns="0" tIns="0" rIns="0" bIns="0" rtlCol="0" anchor="ctr">
            <a:normAutofit/>
          </a:bodyPr>
          <a:lstStyle/>
          <a:p>
            <a:pPr algn="l" indent="0" marL="0">
              <a:buNone/>
            </a:pPr>
            <a:r>
              <a:rPr lang="en-US" sz="1250" dirty="0">
                <a:solidFill>
                  <a:srgbClr val="D4E7CF"/>
                </a:solidFill>
                <a:latin typeface="Aptos" pitchFamily="34" charset="0"/>
                <a:ea typeface="Aptos" pitchFamily="34" charset="-122"/>
                <a:cs typeface="Aptos" pitchFamily="34" charset="-120"/>
              </a:rPr>
              <a:t>RISTEK finals criteria</a:t>
            </a:r>
            <a:endParaRPr lang="en-US" sz="1250" dirty="0"/>
          </a:p>
        </p:txBody>
      </p:sp>
      <p:sp>
        <p:nvSpPr>
          <p:cNvPr id="9" name="Shape 7"/>
          <p:cNvSpPr/>
          <p:nvPr/>
        </p:nvSpPr>
        <p:spPr>
          <a:xfrm>
            <a:off x="3145536" y="2377440"/>
            <a:ext cx="2103120" cy="1389888"/>
          </a:xfrm>
          <a:prstGeom prst="roundRect">
            <a:avLst>
              <a:gd name="adj" fmla="val 11842"/>
            </a:avLst>
          </a:prstGeom>
          <a:solidFill>
            <a:srgbClr val="2F6A25"/>
          </a:solidFill>
          <a:ln w="10160">
            <a:solidFill>
              <a:srgbClr val="2F6A25"/>
            </a:solidFill>
            <a:prstDash val="solid"/>
          </a:ln>
        </p:spPr>
      </p:sp>
      <p:sp>
        <p:nvSpPr>
          <p:cNvPr id="10" name="Text 8"/>
          <p:cNvSpPr txBox="1"/>
          <p:nvPr/>
        </p:nvSpPr>
        <p:spPr>
          <a:xfrm>
            <a:off x="3310128" y="2542032"/>
            <a:ext cx="402336" cy="219456"/>
          </a:xfrm>
          <a:prstGeom prst="rect">
            <a:avLst/>
          </a:prstGeom>
          <a:noFill/>
          <a:ln/>
        </p:spPr>
        <p:txBody>
          <a:bodyPr wrap="square" lIns="0" tIns="0" rIns="0" bIns="0" rtlCol="0" anchor="ctr">
            <a:normAutofit/>
          </a:bodyPr>
          <a:lstStyle/>
          <a:p>
            <a:pPr algn="l" indent="0" marL="0">
              <a:buNone/>
            </a:pPr>
            <a:r>
              <a:rPr lang="en-US" sz="1050" b="1" dirty="0">
                <a:solidFill>
                  <a:srgbClr val="F4C72F"/>
                </a:solidFill>
                <a:latin typeface="Aptos" pitchFamily="34" charset="0"/>
                <a:ea typeface="Aptos" pitchFamily="34" charset="-122"/>
                <a:cs typeface="Aptos" pitchFamily="34" charset="-120"/>
              </a:rPr>
              <a:t>02</a:t>
            </a:r>
            <a:endParaRPr lang="en-US" sz="1050" dirty="0"/>
          </a:p>
        </p:txBody>
      </p:sp>
      <p:sp>
        <p:nvSpPr>
          <p:cNvPr id="11" name="Text 9"/>
          <p:cNvSpPr txBox="1"/>
          <p:nvPr/>
        </p:nvSpPr>
        <p:spPr>
          <a:xfrm>
            <a:off x="3310128" y="2834640"/>
            <a:ext cx="1645920" cy="292608"/>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Aptos" pitchFamily="34" charset="0"/>
                <a:ea typeface="Aptos" pitchFamily="34" charset="-122"/>
                <a:cs typeface="Aptos" pitchFamily="34" charset="-120"/>
              </a:rPr>
              <a:t>Attempt</a:t>
            </a:r>
            <a:endParaRPr lang="en-US" sz="1900" dirty="0"/>
          </a:p>
        </p:txBody>
      </p:sp>
      <p:sp>
        <p:nvSpPr>
          <p:cNvPr id="12" name="Text 10"/>
          <p:cNvSpPr txBox="1"/>
          <p:nvPr/>
        </p:nvSpPr>
        <p:spPr>
          <a:xfrm>
            <a:off x="3310128" y="3200400"/>
            <a:ext cx="1682496" cy="256032"/>
          </a:xfrm>
          <a:prstGeom prst="rect">
            <a:avLst/>
          </a:prstGeom>
          <a:noFill/>
          <a:ln/>
        </p:spPr>
        <p:txBody>
          <a:bodyPr wrap="square" lIns="0" tIns="0" rIns="0" bIns="0" rtlCol="0" anchor="ctr">
            <a:normAutofit/>
          </a:bodyPr>
          <a:lstStyle/>
          <a:p>
            <a:pPr algn="l" indent="0" marL="0">
              <a:buNone/>
            </a:pPr>
            <a:r>
              <a:rPr lang="en-US" sz="1250" dirty="0">
                <a:solidFill>
                  <a:srgbClr val="D4E7CF"/>
                </a:solidFill>
                <a:latin typeface="Aptos" pitchFamily="34" charset="0"/>
                <a:ea typeface="Aptos" pitchFamily="34" charset="-122"/>
                <a:cs typeface="Aptos" pitchFamily="34" charset="-120"/>
              </a:rPr>
              <a:t>one pitch answer</a:t>
            </a:r>
            <a:endParaRPr lang="en-US" sz="1250" dirty="0"/>
          </a:p>
        </p:txBody>
      </p:sp>
      <p:sp>
        <p:nvSpPr>
          <p:cNvPr id="13" name="Shape 11"/>
          <p:cNvSpPr/>
          <p:nvPr/>
        </p:nvSpPr>
        <p:spPr>
          <a:xfrm>
            <a:off x="5632704" y="2377440"/>
            <a:ext cx="2103120" cy="1389888"/>
          </a:xfrm>
          <a:prstGeom prst="roundRect">
            <a:avLst>
              <a:gd name="adj" fmla="val 11842"/>
            </a:avLst>
          </a:prstGeom>
          <a:solidFill>
            <a:srgbClr val="F4C72F"/>
          </a:solidFill>
          <a:ln w="10160">
            <a:solidFill>
              <a:srgbClr val="F4C72F"/>
            </a:solidFill>
            <a:prstDash val="solid"/>
          </a:ln>
        </p:spPr>
      </p:sp>
      <p:sp>
        <p:nvSpPr>
          <p:cNvPr id="14" name="Text 12"/>
          <p:cNvSpPr txBox="1"/>
          <p:nvPr/>
        </p:nvSpPr>
        <p:spPr>
          <a:xfrm>
            <a:off x="5797296" y="2542032"/>
            <a:ext cx="402336" cy="219456"/>
          </a:xfrm>
          <a:prstGeom prst="rect">
            <a:avLst/>
          </a:prstGeom>
          <a:noFill/>
          <a:ln/>
        </p:spPr>
        <p:txBody>
          <a:bodyPr wrap="square" lIns="0" tIns="0" rIns="0" bIns="0" rtlCol="0" anchor="ctr">
            <a:normAutofit/>
          </a:bodyPr>
          <a:lstStyle/>
          <a:p>
            <a:pPr algn="l" indent="0" marL="0">
              <a:buNone/>
            </a:pPr>
            <a:r>
              <a:rPr lang="en-US" sz="1050" b="1" dirty="0">
                <a:solidFill>
                  <a:srgbClr val="171A16"/>
                </a:solidFill>
                <a:latin typeface="Aptos" pitchFamily="34" charset="0"/>
                <a:ea typeface="Aptos" pitchFamily="34" charset="-122"/>
                <a:cs typeface="Aptos" pitchFamily="34" charset="-120"/>
              </a:rPr>
              <a:t>03</a:t>
            </a:r>
            <a:endParaRPr lang="en-US" sz="1050" dirty="0"/>
          </a:p>
        </p:txBody>
      </p:sp>
      <p:sp>
        <p:nvSpPr>
          <p:cNvPr id="15" name="Text 13"/>
          <p:cNvSpPr txBox="1"/>
          <p:nvPr/>
        </p:nvSpPr>
        <p:spPr>
          <a:xfrm>
            <a:off x="5797296" y="2834640"/>
            <a:ext cx="1645920" cy="292608"/>
          </a:xfrm>
          <a:prstGeom prst="rect">
            <a:avLst/>
          </a:prstGeom>
          <a:noFill/>
          <a:ln/>
        </p:spPr>
        <p:txBody>
          <a:bodyPr wrap="square" lIns="0" tIns="0" rIns="0" bIns="0" rtlCol="0" anchor="ctr">
            <a:normAutofit/>
          </a:bodyPr>
          <a:lstStyle/>
          <a:p>
            <a:pPr algn="l" indent="0" marL="0">
              <a:buNone/>
            </a:pPr>
            <a:r>
              <a:rPr lang="en-US" sz="1900" b="1" dirty="0">
                <a:solidFill>
                  <a:srgbClr val="171A16"/>
                </a:solidFill>
                <a:latin typeface="Aptos" pitchFamily="34" charset="0"/>
                <a:ea typeface="Aptos" pitchFamily="34" charset="-122"/>
                <a:cs typeface="Aptos" pitchFamily="34" charset="-120"/>
              </a:rPr>
              <a:t>Defend</a:t>
            </a:r>
            <a:endParaRPr lang="en-US" sz="1900" dirty="0"/>
          </a:p>
        </p:txBody>
      </p:sp>
      <p:sp>
        <p:nvSpPr>
          <p:cNvPr id="16" name="Text 14"/>
          <p:cNvSpPr txBox="1"/>
          <p:nvPr/>
        </p:nvSpPr>
        <p:spPr>
          <a:xfrm>
            <a:off x="5797296" y="3200400"/>
            <a:ext cx="1682496" cy="256032"/>
          </a:xfrm>
          <a:prstGeom prst="rect">
            <a:avLst/>
          </a:prstGeom>
          <a:noFill/>
          <a:ln/>
        </p:spPr>
        <p:txBody>
          <a:bodyPr wrap="square" lIns="0" tIns="0" rIns="0" bIns="0" rtlCol="0" anchor="ctr">
            <a:normAutofit/>
          </a:bodyPr>
          <a:lstStyle/>
          <a:p>
            <a:pPr algn="l" indent="0" marL="0">
              <a:buNone/>
            </a:pPr>
            <a:r>
              <a:rPr lang="en-US" sz="1250" dirty="0">
                <a:solidFill>
                  <a:srgbClr val="171A16"/>
                </a:solidFill>
                <a:latin typeface="Aptos" pitchFamily="34" charset="0"/>
                <a:ea typeface="Aptos" pitchFamily="34" charset="-122"/>
                <a:cs typeface="Aptos" pitchFamily="34" charset="-120"/>
              </a:rPr>
              <a:t>the hardest gap</a:t>
            </a:r>
            <a:endParaRPr lang="en-US" sz="1250" dirty="0"/>
          </a:p>
        </p:txBody>
      </p:sp>
      <p:sp>
        <p:nvSpPr>
          <p:cNvPr id="17" name="Shape 15"/>
          <p:cNvSpPr/>
          <p:nvPr/>
        </p:nvSpPr>
        <p:spPr>
          <a:xfrm>
            <a:off x="8668512" y="658368"/>
            <a:ext cx="2834640" cy="5376672"/>
          </a:xfrm>
          <a:prstGeom prst="roundRect">
            <a:avLst>
              <a:gd name="adj" fmla="val 7742"/>
            </a:avLst>
          </a:prstGeom>
          <a:solidFill>
            <a:srgbClr val="FFFFFF"/>
          </a:solidFill>
          <a:ln w="10160">
            <a:solidFill>
              <a:srgbClr val="FFFFFF"/>
            </a:solidFill>
            <a:prstDash val="solid"/>
          </a:ln>
        </p:spPr>
      </p:sp>
      <p:pic>
        <p:nvPicPr>
          <p:cNvPr id="18" name="Image 0" descr="/var/folders/w7/476m9cts1hd9z22j5b7zlhrc0000gn/T/codex-presentations/019ff217-47cd-78b2-8522-138e9599009f/talk-active-ristek-finals/mascot.png">    </p:cNvPr>
          <p:cNvPicPr>
            <a:picLocks noChangeAspect="1"/>
          </p:cNvPicPr>
          <p:nvPr/>
        </p:nvPicPr>
        <p:blipFill>
          <a:blip r:embed="rId1"/>
          <a:stretch>
            <a:fillRect/>
          </a:stretch>
        </p:blipFill>
        <p:spPr>
          <a:xfrm>
            <a:off x="9098280" y="960120"/>
            <a:ext cx="1938528" cy="1938528"/>
          </a:xfrm>
          <a:prstGeom prst="rect">
            <a:avLst/>
          </a:prstGeom>
        </p:spPr>
      </p:pic>
      <p:sp>
        <p:nvSpPr>
          <p:cNvPr id="19" name="Text 16"/>
          <p:cNvSpPr txBox="1"/>
          <p:nvPr/>
        </p:nvSpPr>
        <p:spPr>
          <a:xfrm>
            <a:off x="9107424" y="3172968"/>
            <a:ext cx="1975104" cy="201168"/>
          </a:xfrm>
          <a:prstGeom prst="rect">
            <a:avLst/>
          </a:prstGeom>
          <a:noFill/>
          <a:ln/>
        </p:spPr>
        <p:txBody>
          <a:bodyPr wrap="square" lIns="0" tIns="0" rIns="0" bIns="0" rtlCol="0" anchor="ctr">
            <a:normAutofit/>
          </a:bodyPr>
          <a:lstStyle/>
          <a:p>
            <a:pPr algn="ctr" indent="0" marL="0">
              <a:buNone/>
            </a:pPr>
            <a:r>
              <a:rPr lang="en-US" sz="1000" b="1" spc="150" kern="0" dirty="0">
                <a:solidFill>
                  <a:srgbClr val="2F6A25"/>
                </a:solidFill>
                <a:latin typeface="Aptos" pitchFamily="34" charset="0"/>
                <a:ea typeface="Aptos" pitchFamily="34" charset="-122"/>
                <a:cs typeface="Aptos" pitchFamily="34" charset="-120"/>
              </a:rPr>
              <a:t>OPEN NOW</a:t>
            </a:r>
            <a:endParaRPr lang="en-US" sz="1000" dirty="0"/>
          </a:p>
        </p:txBody>
      </p:sp>
      <p:sp>
        <p:nvSpPr>
          <p:cNvPr id="20" name="Text 17"/>
          <p:cNvSpPr txBox="1"/>
          <p:nvPr/>
        </p:nvSpPr>
        <p:spPr>
          <a:xfrm>
            <a:off x="9015984" y="3529584"/>
            <a:ext cx="2176272" cy="768096"/>
          </a:xfrm>
          <a:prstGeom prst="rect">
            <a:avLst/>
          </a:prstGeom>
          <a:noFill/>
          <a:ln/>
        </p:spPr>
        <p:txBody>
          <a:bodyPr wrap="square" lIns="0" tIns="0" rIns="0" bIns="0" rtlCol="0" anchor="t">
            <a:normAutofit/>
          </a:bodyPr>
          <a:lstStyle/>
          <a:p>
            <a:pPr algn="ctr" indent="0" marL="0">
              <a:buNone/>
            </a:pPr>
            <a:r>
              <a:rPr lang="en-US" sz="1800" b="1" dirty="0">
                <a:solidFill>
                  <a:srgbClr val="1E4A19"/>
                </a:solidFill>
                <a:latin typeface="Aptos" pitchFamily="34" charset="0"/>
                <a:ea typeface="Aptos" pitchFamily="34" charset="-122"/>
                <a:cs typeface="Aptos" pitchFamily="34" charset="-120"/>
              </a:rPr>
              <a:t>talk-active-id.vercel.app</a:t>
            </a:r>
            <a:endParaRPr lang="en-US" sz="1800" dirty="0"/>
          </a:p>
        </p:txBody>
      </p:sp>
      <p:sp>
        <p:nvSpPr>
          <p:cNvPr id="21" name="Shape 18"/>
          <p:cNvSpPr/>
          <p:nvPr/>
        </p:nvSpPr>
        <p:spPr>
          <a:xfrm>
            <a:off x="9070848" y="4626864"/>
            <a:ext cx="2066544" cy="457200"/>
          </a:xfrm>
          <a:prstGeom prst="roundRect">
            <a:avLst>
              <a:gd name="adj" fmla="val 36000"/>
            </a:avLst>
          </a:prstGeom>
          <a:solidFill>
            <a:srgbClr val="F4C72F"/>
          </a:solidFill>
          <a:ln w="10160">
            <a:solidFill>
              <a:srgbClr val="F4C72F"/>
            </a:solidFill>
            <a:prstDash val="solid"/>
          </a:ln>
        </p:spPr>
      </p:sp>
      <p:sp>
        <p:nvSpPr>
          <p:cNvPr id="22" name="Text 19"/>
          <p:cNvSpPr txBox="1"/>
          <p:nvPr/>
        </p:nvSpPr>
        <p:spPr>
          <a:xfrm>
            <a:off x="9235440" y="4681728"/>
            <a:ext cx="1737360" cy="347472"/>
          </a:xfrm>
          <a:prstGeom prst="rect">
            <a:avLst/>
          </a:prstGeom>
          <a:noFill/>
          <a:ln/>
        </p:spPr>
        <p:txBody>
          <a:bodyPr wrap="square" lIns="0" tIns="0" rIns="0" bIns="0" rtlCol="0" anchor="ctr">
            <a:normAutofit/>
          </a:bodyPr>
          <a:lstStyle/>
          <a:p>
            <a:pPr algn="ctr" indent="0" marL="0">
              <a:buNone/>
            </a:pPr>
            <a:r>
              <a:rPr lang="en-US" sz="1300" b="1" u="sng" dirty="0">
                <a:solidFill>
                  <a:srgbClr val="171A16"/>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live product ↗</a:t>
            </a:r>
            <a:endParaRPr lang="en-US" sz="1300" dirty="0"/>
          </a:p>
        </p:txBody>
      </p:sp>
      <p:sp>
        <p:nvSpPr>
          <p:cNvPr id="23" name="Text 20"/>
          <p:cNvSpPr txBox="1"/>
          <p:nvPr/>
        </p:nvSpPr>
        <p:spPr>
          <a:xfrm>
            <a:off x="676656" y="5824728"/>
            <a:ext cx="7498080" cy="457200"/>
          </a:xfrm>
          <a:prstGeom prst="rect">
            <a:avLst/>
          </a:prstGeom>
          <a:noFill/>
          <a:ln/>
        </p:spPr>
        <p:txBody>
          <a:bodyPr wrap="square" lIns="0" tIns="0" rIns="0" bIns="0" rtlCol="0" anchor="t">
            <a:normAutofit/>
          </a:bodyPr>
          <a:lstStyle/>
          <a:p>
            <a:pPr algn="l" indent="0" marL="0">
              <a:buNone/>
            </a:pPr>
            <a:r>
              <a:rPr lang="en-US" sz="1350" dirty="0">
                <a:solidFill>
                  <a:srgbClr val="D4E7CF"/>
                </a:solidFill>
                <a:latin typeface="Aptos" pitchFamily="34" charset="0"/>
                <a:ea typeface="Aptos" pitchFamily="34" charset="-122"/>
                <a:cs typeface="Aptos" pitchFamily="34" charset="-120"/>
              </a:rPr>
              <a:t>If the network fails, the same loop continues with deterministic cue matching on the laptop.</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384048"/>
            <a:ext cx="4389120" cy="219456"/>
          </a:xfrm>
          <a:prstGeom prst="rect">
            <a:avLst/>
          </a:prstGeom>
          <a:noFill/>
          <a:ln/>
        </p:spPr>
        <p:txBody>
          <a:bodyPr wrap="square" lIns="0" tIns="0" rIns="0" bIns="0" rtlCol="0" anchor="ctr">
            <a:normAutofit/>
          </a:bodyPr>
          <a:lstStyle/>
          <a:p>
            <a:pPr algn="l" indent="0" marL="0">
              <a:buNone/>
            </a:pPr>
            <a:r>
              <a:rPr lang="en-US" sz="1050" b="1" spc="180" kern="0" dirty="0">
                <a:solidFill>
                  <a:srgbClr val="2F6A25"/>
                </a:solidFill>
                <a:latin typeface="Aptos" pitchFamily="34" charset="0"/>
                <a:ea typeface="Aptos" pitchFamily="34" charset="-122"/>
                <a:cs typeface="Aptos" pitchFamily="34" charset="-120"/>
              </a:rPr>
              <a:t>PROOF</a:t>
            </a:r>
            <a:endParaRPr lang="en-US" sz="1050" dirty="0"/>
          </a:p>
        </p:txBody>
      </p:sp>
      <p:sp>
        <p:nvSpPr>
          <p:cNvPr id="3" name="Text 1"/>
          <p:cNvSpPr txBox="1"/>
          <p:nvPr/>
        </p:nvSpPr>
        <p:spPr>
          <a:xfrm>
            <a:off x="594360" y="676656"/>
            <a:ext cx="10972800" cy="731520"/>
          </a:xfrm>
          <a:prstGeom prst="rect">
            <a:avLst/>
          </a:prstGeom>
          <a:noFill/>
          <a:ln/>
        </p:spPr>
        <p:txBody>
          <a:bodyPr wrap="square" lIns="0" tIns="0" rIns="0" bIns="0" rtlCol="0" anchor="t">
            <a:normAutofit/>
          </a:bodyPr>
          <a:lstStyle/>
          <a:p>
            <a:pPr algn="l" indent="0" marL="0">
              <a:buNone/>
            </a:pPr>
            <a:r>
              <a:rPr lang="en-US" sz="3500" b="1" dirty="0">
                <a:solidFill>
                  <a:srgbClr val="171A16"/>
                </a:solidFill>
                <a:latin typeface="Aptos Display" pitchFamily="34" charset="0"/>
                <a:ea typeface="Aptos Display" pitchFamily="34" charset="-122"/>
                <a:cs typeface="Aptos Display" pitchFamily="34" charset="-120"/>
              </a:rPr>
              <a:t>A verdict has to point somewhere.</a:t>
            </a:r>
            <a:endParaRPr lang="en-US" sz="3500" dirty="0"/>
          </a:p>
        </p:txBody>
      </p:sp>
      <p:sp>
        <p:nvSpPr>
          <p:cNvPr id="4" name="Text 2"/>
          <p:cNvSpPr txBox="1"/>
          <p:nvPr/>
        </p:nvSpPr>
        <p:spPr>
          <a:xfrm>
            <a:off x="621792" y="1408176"/>
            <a:ext cx="10789920" cy="429768"/>
          </a:xfrm>
          <a:prstGeom prst="rect">
            <a:avLst/>
          </a:prstGeom>
          <a:noFill/>
          <a:ln/>
        </p:spPr>
        <p:txBody>
          <a:bodyPr wrap="square" lIns="0" tIns="0" rIns="0" bIns="0" rtlCol="0" anchor="t">
            <a:normAutofit/>
          </a:bodyPr>
          <a:lstStyle/>
          <a:p>
            <a:pPr algn="l" indent="0" marL="0">
              <a:buNone/>
            </a:pPr>
            <a:r>
              <a:rPr lang="en-US" sz="1650" dirty="0">
                <a:solidFill>
                  <a:srgbClr val="667064"/>
                </a:solidFill>
                <a:latin typeface="Aptos" pitchFamily="34" charset="0"/>
                <a:ea typeface="Aptos" pitchFamily="34" charset="-122"/>
                <a:cs typeface="Aptos" pitchFamily="34" charset="-120"/>
              </a:rPr>
              <a:t>The review names the weakest criterion and turns it into a realistic judge question.</a:t>
            </a:r>
            <a:endParaRPr lang="en-US" sz="1650" dirty="0"/>
          </a:p>
        </p:txBody>
      </p:sp>
      <p:sp>
        <p:nvSpPr>
          <p:cNvPr id="5" name="Shape 3"/>
          <p:cNvSpPr/>
          <p:nvPr/>
        </p:nvSpPr>
        <p:spPr>
          <a:xfrm>
            <a:off x="594360" y="1920240"/>
            <a:ext cx="7498080" cy="4059936"/>
          </a:xfrm>
          <a:prstGeom prst="roundRect">
            <a:avLst>
              <a:gd name="adj" fmla="val 4054"/>
            </a:avLst>
          </a:prstGeom>
          <a:solidFill>
            <a:srgbClr val="FFFFFF"/>
          </a:solidFill>
          <a:ln w="10160">
            <a:solidFill>
              <a:srgbClr val="D8DCCF"/>
            </a:solidFill>
            <a:prstDash val="solid"/>
          </a:ln>
        </p:spPr>
      </p:sp>
      <p:pic>
        <p:nvPicPr>
          <p:cNvPr id="6" name="Image 0" descr="/var/folders/w7/476m9cts1hd9z22j5b7zlhrc0000gn/T/codex-presentations/019ff217-47cd-78b2-8522-138e9599009f/talk-active-ristek-finals/product-review.png">    </p:cNvPr>
          <p:cNvPicPr>
            <a:picLocks noChangeAspect="1"/>
          </p:cNvPicPr>
          <p:nvPr/>
        </p:nvPicPr>
        <p:blipFill>
          <a:blip r:embed="rId1"/>
          <a:stretch>
            <a:fillRect/>
          </a:stretch>
        </p:blipFill>
        <p:spPr>
          <a:xfrm>
            <a:off x="713232" y="2039112"/>
            <a:ext cx="7260336" cy="3813048"/>
          </a:xfrm>
          <a:prstGeom prst="rect">
            <a:avLst/>
          </a:prstGeom>
        </p:spPr>
      </p:pic>
      <p:sp>
        <p:nvSpPr>
          <p:cNvPr id="7" name="Shape 4"/>
          <p:cNvSpPr/>
          <p:nvPr/>
        </p:nvSpPr>
        <p:spPr>
          <a:xfrm>
            <a:off x="8321040" y="1920240"/>
            <a:ext cx="3273552" cy="4059936"/>
          </a:xfrm>
          <a:prstGeom prst="roundRect">
            <a:avLst>
              <a:gd name="adj" fmla="val 5028"/>
            </a:avLst>
          </a:prstGeom>
          <a:solidFill>
            <a:srgbClr val="1E4A19"/>
          </a:solidFill>
          <a:ln w="10160">
            <a:solidFill>
              <a:srgbClr val="1E4A19"/>
            </a:solidFill>
            <a:prstDash val="solid"/>
          </a:ln>
        </p:spPr>
      </p:sp>
      <p:sp>
        <p:nvSpPr>
          <p:cNvPr id="8" name="Text 5"/>
          <p:cNvSpPr txBox="1"/>
          <p:nvPr/>
        </p:nvSpPr>
        <p:spPr>
          <a:xfrm>
            <a:off x="8613648" y="2267712"/>
            <a:ext cx="2651760" cy="219456"/>
          </a:xfrm>
          <a:prstGeom prst="rect">
            <a:avLst/>
          </a:prstGeom>
          <a:noFill/>
          <a:ln/>
        </p:spPr>
        <p:txBody>
          <a:bodyPr wrap="square" lIns="0" tIns="0" rIns="0" bIns="0" rtlCol="0" anchor="ctr">
            <a:normAutofit/>
          </a:bodyPr>
          <a:lstStyle/>
          <a:p>
            <a:pPr algn="l" indent="0" marL="0">
              <a:buNone/>
            </a:pPr>
            <a:r>
              <a:rPr lang="en-US" sz="1050" b="1" spc="150" kern="0" dirty="0">
                <a:solidFill>
                  <a:srgbClr val="F4C72F"/>
                </a:solidFill>
                <a:latin typeface="Aptos" pitchFamily="34" charset="0"/>
                <a:ea typeface="Aptos" pitchFamily="34" charset="-122"/>
                <a:cs typeface="Aptos" pitchFamily="34" charset="-120"/>
              </a:rPr>
              <a:t>REFUSAL CONTRACT</a:t>
            </a:r>
            <a:endParaRPr lang="en-US" sz="1050" dirty="0"/>
          </a:p>
        </p:txBody>
      </p:sp>
      <p:sp>
        <p:nvSpPr>
          <p:cNvPr id="9" name="Text 6"/>
          <p:cNvSpPr txBox="1"/>
          <p:nvPr/>
        </p:nvSpPr>
        <p:spPr>
          <a:xfrm>
            <a:off x="8595360" y="2752344"/>
            <a:ext cx="2633472" cy="987552"/>
          </a:xfrm>
          <a:prstGeom prst="rect">
            <a:avLst/>
          </a:prstGeom>
          <a:noFill/>
          <a:ln/>
        </p:spPr>
        <p:txBody>
          <a:bodyPr wrap="square" lIns="0" tIns="0" rIns="0" bIns="0" rtlCol="0" anchor="t">
            <a:normAutofit/>
          </a:bodyPr>
          <a:lstStyle/>
          <a:p>
            <a:pPr algn="l" indent="0" marL="0">
              <a:buNone/>
            </a:pPr>
            <a:r>
              <a:rPr lang="en-US" sz="2600" dirty="0">
                <a:solidFill>
                  <a:srgbClr val="FFFFFF"/>
                </a:solidFill>
                <a:latin typeface="Georgia" pitchFamily="34" charset="0"/>
                <a:ea typeface="Georgia" pitchFamily="34" charset="-122"/>
                <a:cs typeface="Georgia" pitchFamily="34" charset="-120"/>
              </a:rPr>
              <a:t>No quote?</a:t>
            </a:r>
            <a:endParaRPr lang="en-US" sz="2600" dirty="0"/>
          </a:p>
          <a:p>
            <a:pPr algn="l" indent="0" marL="0">
              <a:buNone/>
            </a:pPr>
            <a:r>
              <a:rPr lang="en-US" sz="2600" dirty="0">
                <a:solidFill>
                  <a:srgbClr val="FFFFFF"/>
                </a:solidFill>
                <a:latin typeface="Georgia" pitchFamily="34" charset="0"/>
                <a:ea typeface="Georgia" pitchFamily="34" charset="-122"/>
                <a:cs typeface="Georgia" pitchFamily="34" charset="-120"/>
              </a:rPr>
              <a:t>No supporting verdict.</a:t>
            </a:r>
            <a:endParaRPr lang="en-US" sz="2600" dirty="0"/>
          </a:p>
        </p:txBody>
      </p:sp>
      <p:sp>
        <p:nvSpPr>
          <p:cNvPr id="10" name="Text 7"/>
          <p:cNvSpPr txBox="1"/>
          <p:nvPr/>
        </p:nvSpPr>
        <p:spPr>
          <a:xfrm>
            <a:off x="8613648" y="4005072"/>
            <a:ext cx="2560320" cy="960120"/>
          </a:xfrm>
          <a:prstGeom prst="rect">
            <a:avLst/>
          </a:prstGeom>
          <a:noFill/>
          <a:ln/>
        </p:spPr>
        <p:txBody>
          <a:bodyPr wrap="square" lIns="0" tIns="0" rIns="0" bIns="0" rtlCol="0" anchor="t">
            <a:normAutofit/>
          </a:bodyPr>
          <a:lstStyle/>
          <a:p>
            <a:pPr algn="l" indent="0" marL="0">
              <a:buNone/>
            </a:pPr>
            <a:r>
              <a:rPr lang="en-US" sz="1400" dirty="0">
                <a:solidFill>
                  <a:srgbClr val="D6E8D1"/>
                </a:solidFill>
                <a:latin typeface="Aptos" pitchFamily="34" charset="0"/>
                <a:ea typeface="Aptos" pitchFamily="34" charset="-122"/>
                <a:cs typeface="Aptos" pitchFamily="34" charset="-120"/>
              </a:rPr>
              <a:t>If a model-generated span cannot be found in the student’s transcript, that row is discarded and falls back visibly.</a:t>
            </a:r>
            <a:endParaRPr lang="en-US" sz="1400" dirty="0"/>
          </a:p>
        </p:txBody>
      </p:sp>
      <p:sp>
        <p:nvSpPr>
          <p:cNvPr id="11" name="Shape 8"/>
          <p:cNvSpPr/>
          <p:nvPr/>
        </p:nvSpPr>
        <p:spPr>
          <a:xfrm>
            <a:off x="8613648" y="5266944"/>
            <a:ext cx="2267712" cy="310896"/>
          </a:xfrm>
          <a:prstGeom prst="roundRect">
            <a:avLst>
              <a:gd name="adj" fmla="val 50000"/>
            </a:avLst>
          </a:prstGeom>
          <a:solidFill>
            <a:srgbClr val="F4C72F"/>
          </a:solidFill>
          <a:ln w="10160">
            <a:solidFill>
              <a:srgbClr val="F4C72F"/>
            </a:solidFill>
            <a:prstDash val="solid"/>
          </a:ln>
        </p:spPr>
      </p:sp>
      <p:sp>
        <p:nvSpPr>
          <p:cNvPr id="12" name="Text 9"/>
          <p:cNvSpPr txBox="1"/>
          <p:nvPr/>
        </p:nvSpPr>
        <p:spPr>
          <a:xfrm>
            <a:off x="8723376" y="5285232"/>
            <a:ext cx="2048256"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TRACEABLE BY DESIGN</a:t>
            </a:r>
            <a:endParaRPr lang="en-US" sz="1050" dirty="0"/>
          </a:p>
        </p:txBody>
      </p:sp>
      <p:sp>
        <p:nvSpPr>
          <p:cNvPr id="13" name="Text 10"/>
          <p:cNvSpPr/>
          <p:nvPr/>
        </p:nvSpPr>
        <p:spPr>
          <a:xfrm>
            <a:off x="621792" y="6217920"/>
            <a:ext cx="10881360" cy="164592"/>
          </a:xfrm>
          <a:prstGeom prst="rect">
            <a:avLst/>
          </a:prstGeom>
          <a:noFill/>
          <a:ln/>
        </p:spPr>
        <p:txBody>
          <a:bodyPr wrap="square" lIns="0" tIns="0" rIns="0" bIns="0" rtlCol="0" anchor="ctr">
            <a:normAutofit/>
          </a:bodyPr>
          <a:lstStyle/>
          <a:p>
            <a:pPr algn="l" indent="0" marL="0">
              <a:buNone/>
            </a:pPr>
            <a:r>
              <a:rPr lang="en-US" sz="820" i="1" dirty="0">
                <a:solidFill>
                  <a:srgbClr val="667064"/>
                </a:solidFill>
                <a:latin typeface="Aptos" pitchFamily="34" charset="0"/>
                <a:ea typeface="Aptos" pitchFamily="34" charset="-122"/>
                <a:cs typeface="Aptos" pitchFamily="34" charset="-120"/>
              </a:rPr>
              <a:t>Screenshot captured by the real-browser interaction gate on 12 Aug 2026.</a:t>
            </a:r>
            <a:endParaRPr lang="en-US" sz="82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384048"/>
            <a:ext cx="4389120" cy="219456"/>
          </a:xfrm>
          <a:prstGeom prst="rect">
            <a:avLst/>
          </a:prstGeom>
          <a:noFill/>
          <a:ln/>
        </p:spPr>
        <p:txBody>
          <a:bodyPr wrap="square" lIns="0" tIns="0" rIns="0" bIns="0" rtlCol="0" anchor="ctr">
            <a:normAutofit/>
          </a:bodyPr>
          <a:lstStyle/>
          <a:p>
            <a:pPr algn="l" indent="0" marL="0">
              <a:buNone/>
            </a:pPr>
            <a:r>
              <a:rPr lang="en-US" sz="1050" b="1" spc="180" kern="0" dirty="0">
                <a:solidFill>
                  <a:srgbClr val="2F6A25"/>
                </a:solidFill>
                <a:latin typeface="Aptos" pitchFamily="34" charset="0"/>
                <a:ea typeface="Aptos" pitchFamily="34" charset="-122"/>
                <a:cs typeface="Aptos" pitchFamily="34" charset="-120"/>
              </a:rPr>
              <a:t>TECHNICAL ARCHITECTURE</a:t>
            </a:r>
            <a:endParaRPr lang="en-US" sz="1050" dirty="0"/>
          </a:p>
        </p:txBody>
      </p:sp>
      <p:sp>
        <p:nvSpPr>
          <p:cNvPr id="3" name="Text 1"/>
          <p:cNvSpPr txBox="1"/>
          <p:nvPr/>
        </p:nvSpPr>
        <p:spPr>
          <a:xfrm>
            <a:off x="594360" y="676656"/>
            <a:ext cx="10972800" cy="731520"/>
          </a:xfrm>
          <a:prstGeom prst="rect">
            <a:avLst/>
          </a:prstGeom>
          <a:noFill/>
          <a:ln/>
        </p:spPr>
        <p:txBody>
          <a:bodyPr wrap="square" lIns="0" tIns="0" rIns="0" bIns="0" rtlCol="0" anchor="t">
            <a:normAutofit/>
          </a:bodyPr>
          <a:lstStyle/>
          <a:p>
            <a:pPr algn="l" indent="0" marL="0">
              <a:buNone/>
            </a:pPr>
            <a:r>
              <a:rPr lang="en-US" sz="3500" b="1" dirty="0">
                <a:solidFill>
                  <a:srgbClr val="171A16"/>
                </a:solidFill>
                <a:latin typeface="Aptos Display" pitchFamily="34" charset="0"/>
                <a:ea typeface="Aptos Display" pitchFamily="34" charset="-122"/>
                <a:cs typeface="Aptos Display" pitchFamily="34" charset="-120"/>
              </a:rPr>
              <a:t>Network-assisted when available. Deterministic when it is not.</a:t>
            </a:r>
            <a:endParaRPr lang="en-US" sz="3500" dirty="0"/>
          </a:p>
        </p:txBody>
      </p:sp>
      <p:sp>
        <p:nvSpPr>
          <p:cNvPr id="4" name="Text 2"/>
          <p:cNvSpPr txBox="1"/>
          <p:nvPr/>
        </p:nvSpPr>
        <p:spPr>
          <a:xfrm>
            <a:off x="621792" y="1408176"/>
            <a:ext cx="10789920" cy="429768"/>
          </a:xfrm>
          <a:prstGeom prst="rect">
            <a:avLst/>
          </a:prstGeom>
          <a:noFill/>
          <a:ln/>
        </p:spPr>
        <p:txBody>
          <a:bodyPr wrap="square" lIns="0" tIns="0" rIns="0" bIns="0" rtlCol="0" anchor="t">
            <a:normAutofit/>
          </a:bodyPr>
          <a:lstStyle/>
          <a:p>
            <a:pPr algn="l" indent="0" marL="0">
              <a:buNone/>
            </a:pPr>
            <a:r>
              <a:rPr lang="en-US" sz="1650" dirty="0">
                <a:solidFill>
                  <a:srgbClr val="667064"/>
                </a:solidFill>
                <a:latin typeface="Aptos" pitchFamily="34" charset="0"/>
                <a:ea typeface="Aptos" pitchFamily="34" charset="-122"/>
                <a:cs typeface="Aptos" pitchFamily="34" charset="-120"/>
              </a:rPr>
              <a:t>The browser receives one result shape either way, so failure never breaks the rehearsal loop.</a:t>
            </a:r>
            <a:endParaRPr lang="en-US" sz="1650" dirty="0"/>
          </a:p>
        </p:txBody>
      </p:sp>
      <p:sp>
        <p:nvSpPr>
          <p:cNvPr id="5" name="Shape 3"/>
          <p:cNvSpPr/>
          <p:nvPr/>
        </p:nvSpPr>
        <p:spPr>
          <a:xfrm>
            <a:off x="621792" y="2139696"/>
            <a:ext cx="1956816" cy="1938528"/>
          </a:xfrm>
          <a:prstGeom prst="roundRect">
            <a:avLst>
              <a:gd name="adj" fmla="val 8491"/>
            </a:avLst>
          </a:prstGeom>
          <a:solidFill>
            <a:srgbClr val="F2F0E8"/>
          </a:solidFill>
          <a:ln w="10160">
            <a:solidFill>
              <a:srgbClr val="D8DCCF"/>
            </a:solidFill>
            <a:prstDash val="solid"/>
          </a:ln>
        </p:spPr>
      </p:sp>
      <p:sp>
        <p:nvSpPr>
          <p:cNvPr id="6" name="Text 4"/>
          <p:cNvSpPr txBox="1"/>
          <p:nvPr/>
        </p:nvSpPr>
        <p:spPr>
          <a:xfrm>
            <a:off x="804672" y="2487168"/>
            <a:ext cx="1591056" cy="347472"/>
          </a:xfrm>
          <a:prstGeom prst="rect">
            <a:avLst/>
          </a:prstGeom>
          <a:noFill/>
          <a:ln/>
        </p:spPr>
        <p:txBody>
          <a:bodyPr wrap="square" lIns="0" tIns="0" rIns="0" bIns="0" rtlCol="0" anchor="ctr">
            <a:normAutofit/>
          </a:bodyPr>
          <a:lstStyle/>
          <a:p>
            <a:pPr algn="l" indent="0" marL="0">
              <a:buNone/>
            </a:pPr>
            <a:r>
              <a:rPr lang="en-US" sz="1900" b="1" dirty="0">
                <a:solidFill>
                  <a:srgbClr val="171A16"/>
                </a:solidFill>
                <a:latin typeface="Aptos" pitchFamily="34" charset="0"/>
                <a:ea typeface="Aptos" pitchFamily="34" charset="-122"/>
                <a:cs typeface="Aptos" pitchFamily="34" charset="-120"/>
              </a:rPr>
              <a:t>Browser</a:t>
            </a:r>
            <a:endParaRPr lang="en-US" sz="1900" dirty="0"/>
          </a:p>
        </p:txBody>
      </p:sp>
      <p:sp>
        <p:nvSpPr>
          <p:cNvPr id="7" name="Text 5"/>
          <p:cNvSpPr txBox="1"/>
          <p:nvPr/>
        </p:nvSpPr>
        <p:spPr>
          <a:xfrm>
            <a:off x="804672" y="2999232"/>
            <a:ext cx="1591056" cy="676656"/>
          </a:xfrm>
          <a:prstGeom prst="rect">
            <a:avLst/>
          </a:prstGeom>
          <a:noFill/>
          <a:ln/>
        </p:spPr>
        <p:txBody>
          <a:bodyPr wrap="square" lIns="0" tIns="0" rIns="0" bIns="0" rtlCol="0" anchor="t">
            <a:normAutofit/>
          </a:bodyPr>
          <a:lstStyle/>
          <a:p>
            <a:pPr algn="l" indent="0" marL="0">
              <a:buNone/>
            </a:pPr>
            <a:r>
              <a:rPr lang="en-US" sz="1350" dirty="0">
                <a:solidFill>
                  <a:srgbClr val="667064"/>
                </a:solidFill>
                <a:latin typeface="Aptos" pitchFamily="34" charset="0"/>
                <a:ea typeface="Aptos" pitchFamily="34" charset="-122"/>
                <a:cs typeface="Aptos" pitchFamily="34" charset="-120"/>
              </a:rPr>
              <a:t>Native JS modules</a:t>
            </a:r>
            <a:endParaRPr lang="en-US" sz="1350" dirty="0"/>
          </a:p>
          <a:p>
            <a:pPr algn="l" indent="0" marL="0">
              <a:buNone/>
            </a:pPr>
            <a:r>
              <a:rPr lang="en-US" sz="1350" dirty="0">
                <a:solidFill>
                  <a:srgbClr val="667064"/>
                </a:solidFill>
                <a:latin typeface="Aptos" pitchFamily="34" charset="0"/>
                <a:ea typeface="Aptos" pitchFamily="34" charset="-122"/>
                <a:cs typeface="Aptos" pitchFamily="34" charset="-120"/>
              </a:rPr>
              <a:t>local saved state</a:t>
            </a:r>
            <a:endParaRPr lang="en-US" sz="1350" dirty="0"/>
          </a:p>
        </p:txBody>
      </p:sp>
      <p:sp>
        <p:nvSpPr>
          <p:cNvPr id="8" name="Shape 6"/>
          <p:cNvSpPr/>
          <p:nvPr/>
        </p:nvSpPr>
        <p:spPr>
          <a:xfrm>
            <a:off x="2670048" y="3081528"/>
            <a:ext cx="274320" cy="0"/>
          </a:xfrm>
          <a:prstGeom prst="line">
            <a:avLst/>
          </a:prstGeom>
          <a:noFill/>
          <a:ln w="30480">
            <a:solidFill>
              <a:srgbClr val="2F6A25"/>
            </a:solidFill>
            <a:prstDash val="solid"/>
            <a:headEnd type="none"/>
            <a:tailEnd type="triangle"/>
          </a:ln>
        </p:spPr>
      </p:sp>
      <p:sp>
        <p:nvSpPr>
          <p:cNvPr id="9" name="Shape 7"/>
          <p:cNvSpPr/>
          <p:nvPr/>
        </p:nvSpPr>
        <p:spPr>
          <a:xfrm>
            <a:off x="2944368" y="2139696"/>
            <a:ext cx="2121408" cy="1938528"/>
          </a:xfrm>
          <a:prstGeom prst="roundRect">
            <a:avLst>
              <a:gd name="adj" fmla="val 8491"/>
            </a:avLst>
          </a:prstGeom>
          <a:solidFill>
            <a:srgbClr val="E7F0E2"/>
          </a:solidFill>
          <a:ln w="10160">
            <a:solidFill>
              <a:srgbClr val="D8DCCF"/>
            </a:solidFill>
            <a:prstDash val="solid"/>
          </a:ln>
        </p:spPr>
      </p:sp>
      <p:sp>
        <p:nvSpPr>
          <p:cNvPr id="10" name="Text 8"/>
          <p:cNvSpPr txBox="1"/>
          <p:nvPr/>
        </p:nvSpPr>
        <p:spPr>
          <a:xfrm>
            <a:off x="3127248" y="2487168"/>
            <a:ext cx="1755648" cy="347472"/>
          </a:xfrm>
          <a:prstGeom prst="rect">
            <a:avLst/>
          </a:prstGeom>
          <a:noFill/>
          <a:ln/>
        </p:spPr>
        <p:txBody>
          <a:bodyPr wrap="square" lIns="0" tIns="0" rIns="0" bIns="0" rtlCol="0" anchor="ctr">
            <a:normAutofit/>
          </a:bodyPr>
          <a:lstStyle/>
          <a:p>
            <a:pPr algn="l" indent="0" marL="0">
              <a:buNone/>
            </a:pPr>
            <a:r>
              <a:rPr lang="en-US" sz="1900" b="1" dirty="0">
                <a:solidFill>
                  <a:srgbClr val="171A16"/>
                </a:solidFill>
                <a:latin typeface="Aptos" pitchFamily="34" charset="0"/>
                <a:ea typeface="Aptos" pitchFamily="34" charset="-122"/>
                <a:cs typeface="Aptos" pitchFamily="34" charset="-120"/>
              </a:rPr>
              <a:t>Vercel Function</a:t>
            </a:r>
            <a:endParaRPr lang="en-US" sz="1900" dirty="0"/>
          </a:p>
        </p:txBody>
      </p:sp>
      <p:sp>
        <p:nvSpPr>
          <p:cNvPr id="11" name="Text 9"/>
          <p:cNvSpPr txBox="1"/>
          <p:nvPr/>
        </p:nvSpPr>
        <p:spPr>
          <a:xfrm>
            <a:off x="3127248" y="2999232"/>
            <a:ext cx="1755648" cy="676656"/>
          </a:xfrm>
          <a:prstGeom prst="rect">
            <a:avLst/>
          </a:prstGeom>
          <a:noFill/>
          <a:ln/>
        </p:spPr>
        <p:txBody>
          <a:bodyPr wrap="square" lIns="0" tIns="0" rIns="0" bIns="0" rtlCol="0" anchor="t">
            <a:normAutofit/>
          </a:bodyPr>
          <a:lstStyle/>
          <a:p>
            <a:pPr algn="l" indent="0" marL="0">
              <a:buNone/>
            </a:pPr>
            <a:r>
              <a:rPr lang="en-US" sz="1350" dirty="0">
                <a:solidFill>
                  <a:srgbClr val="667064"/>
                </a:solidFill>
                <a:latin typeface="Aptos" pitchFamily="34" charset="0"/>
                <a:ea typeface="Aptos" pitchFamily="34" charset="-122"/>
                <a:cs typeface="Aptos" pitchFamily="34" charset="-120"/>
              </a:rPr>
              <a:t>/api/analyze</a:t>
            </a:r>
            <a:endParaRPr lang="en-US" sz="1350" dirty="0"/>
          </a:p>
          <a:p>
            <a:pPr algn="l" indent="0" marL="0">
              <a:buNone/>
            </a:pPr>
            <a:r>
              <a:rPr lang="en-US" sz="1350" dirty="0">
                <a:solidFill>
                  <a:srgbClr val="667064"/>
                </a:solidFill>
                <a:latin typeface="Aptos" pitchFamily="34" charset="0"/>
                <a:ea typeface="Aptos" pitchFamily="34" charset="-122"/>
                <a:cs typeface="Aptos" pitchFamily="34" charset="-120"/>
              </a:rPr>
              <a:t>key stays server-side</a:t>
            </a:r>
            <a:endParaRPr lang="en-US" sz="1350" dirty="0"/>
          </a:p>
        </p:txBody>
      </p:sp>
      <p:sp>
        <p:nvSpPr>
          <p:cNvPr id="12" name="Shape 10"/>
          <p:cNvSpPr/>
          <p:nvPr/>
        </p:nvSpPr>
        <p:spPr>
          <a:xfrm>
            <a:off x="5157216" y="3081528"/>
            <a:ext cx="274320" cy="0"/>
          </a:xfrm>
          <a:prstGeom prst="line">
            <a:avLst/>
          </a:prstGeom>
          <a:noFill/>
          <a:ln w="30480">
            <a:solidFill>
              <a:srgbClr val="2F6A25"/>
            </a:solidFill>
            <a:prstDash val="solid"/>
            <a:headEnd type="none"/>
            <a:tailEnd type="triangle"/>
          </a:ln>
        </p:spPr>
      </p:sp>
      <p:sp>
        <p:nvSpPr>
          <p:cNvPr id="13" name="Shape 11"/>
          <p:cNvSpPr/>
          <p:nvPr/>
        </p:nvSpPr>
        <p:spPr>
          <a:xfrm>
            <a:off x="5449824" y="2139696"/>
            <a:ext cx="2340864" cy="1938528"/>
          </a:xfrm>
          <a:prstGeom prst="roundRect">
            <a:avLst>
              <a:gd name="adj" fmla="val 8491"/>
            </a:avLst>
          </a:prstGeom>
          <a:solidFill>
            <a:srgbClr val="DDF1F6"/>
          </a:solidFill>
          <a:ln w="10160">
            <a:solidFill>
              <a:srgbClr val="D8DCCF"/>
            </a:solidFill>
            <a:prstDash val="solid"/>
          </a:ln>
        </p:spPr>
      </p:sp>
      <p:sp>
        <p:nvSpPr>
          <p:cNvPr id="14" name="Text 12"/>
          <p:cNvSpPr txBox="1"/>
          <p:nvPr/>
        </p:nvSpPr>
        <p:spPr>
          <a:xfrm>
            <a:off x="5632704" y="2487168"/>
            <a:ext cx="1975104" cy="347472"/>
          </a:xfrm>
          <a:prstGeom prst="rect">
            <a:avLst/>
          </a:prstGeom>
          <a:noFill/>
          <a:ln/>
        </p:spPr>
        <p:txBody>
          <a:bodyPr wrap="square" lIns="0" tIns="0" rIns="0" bIns="0" rtlCol="0" anchor="ctr">
            <a:normAutofit/>
          </a:bodyPr>
          <a:lstStyle/>
          <a:p>
            <a:pPr algn="l" indent="0" marL="0">
              <a:buNone/>
            </a:pPr>
            <a:r>
              <a:rPr lang="en-US" sz="1900" b="1" dirty="0">
                <a:solidFill>
                  <a:srgbClr val="171A16"/>
                </a:solidFill>
                <a:latin typeface="Aptos" pitchFamily="34" charset="0"/>
                <a:ea typeface="Aptos" pitchFamily="34" charset="-122"/>
                <a:cs typeface="Aptos" pitchFamily="34" charset="-120"/>
              </a:rPr>
              <a:t>AI Gateway</a:t>
            </a:r>
            <a:endParaRPr lang="en-US" sz="1900" dirty="0"/>
          </a:p>
        </p:txBody>
      </p:sp>
      <p:sp>
        <p:nvSpPr>
          <p:cNvPr id="15" name="Text 13"/>
          <p:cNvSpPr txBox="1"/>
          <p:nvPr/>
        </p:nvSpPr>
        <p:spPr>
          <a:xfrm>
            <a:off x="5632704" y="2999232"/>
            <a:ext cx="1975104" cy="676656"/>
          </a:xfrm>
          <a:prstGeom prst="rect">
            <a:avLst/>
          </a:prstGeom>
          <a:noFill/>
          <a:ln/>
        </p:spPr>
        <p:txBody>
          <a:bodyPr wrap="square" lIns="0" tIns="0" rIns="0" bIns="0" rtlCol="0" anchor="t">
            <a:normAutofit/>
          </a:bodyPr>
          <a:lstStyle/>
          <a:p>
            <a:pPr algn="l" indent="0" marL="0">
              <a:buNone/>
            </a:pPr>
            <a:r>
              <a:rPr lang="en-US" sz="1350" dirty="0">
                <a:solidFill>
                  <a:srgbClr val="667064"/>
                </a:solidFill>
                <a:latin typeface="Aptos" pitchFamily="34" charset="0"/>
                <a:ea typeface="Aptos" pitchFamily="34" charset="-122"/>
                <a:cs typeface="Aptos" pitchFamily="34" charset="-120"/>
              </a:rPr>
              <a:t>3-provider chain</a:t>
            </a:r>
            <a:endParaRPr lang="en-US" sz="1350" dirty="0"/>
          </a:p>
          <a:p>
            <a:pPr algn="l" indent="0" marL="0">
              <a:buNone/>
            </a:pPr>
            <a:r>
              <a:rPr lang="en-US" sz="1350" dirty="0">
                <a:solidFill>
                  <a:srgbClr val="667064"/>
                </a:solidFill>
                <a:latin typeface="Aptos" pitchFamily="34" charset="0"/>
                <a:ea typeface="Aptos" pitchFamily="34" charset="-122"/>
                <a:cs typeface="Aptos" pitchFamily="34" charset="-120"/>
              </a:rPr>
              <a:t>22s total budget</a:t>
            </a:r>
            <a:endParaRPr lang="en-US" sz="1350" dirty="0"/>
          </a:p>
        </p:txBody>
      </p:sp>
      <p:sp>
        <p:nvSpPr>
          <p:cNvPr id="16" name="Shape 14"/>
          <p:cNvSpPr/>
          <p:nvPr/>
        </p:nvSpPr>
        <p:spPr>
          <a:xfrm>
            <a:off x="7882128" y="3081528"/>
            <a:ext cx="246888" cy="0"/>
          </a:xfrm>
          <a:prstGeom prst="line">
            <a:avLst/>
          </a:prstGeom>
          <a:noFill/>
          <a:ln w="30480">
            <a:solidFill>
              <a:srgbClr val="2F6A25"/>
            </a:solidFill>
            <a:prstDash val="solid"/>
            <a:headEnd type="none"/>
            <a:tailEnd type="triangle"/>
          </a:ln>
        </p:spPr>
      </p:sp>
      <p:sp>
        <p:nvSpPr>
          <p:cNvPr id="17" name="Shape 15"/>
          <p:cNvSpPr/>
          <p:nvPr/>
        </p:nvSpPr>
        <p:spPr>
          <a:xfrm>
            <a:off x="8174736" y="2139696"/>
            <a:ext cx="3364992" cy="1938528"/>
          </a:xfrm>
          <a:prstGeom prst="roundRect">
            <a:avLst>
              <a:gd name="adj" fmla="val 8491"/>
            </a:avLst>
          </a:prstGeom>
          <a:solidFill>
            <a:srgbClr val="1E4A19"/>
          </a:solidFill>
          <a:ln w="10160">
            <a:solidFill>
              <a:srgbClr val="1E4A19"/>
            </a:solidFill>
            <a:prstDash val="solid"/>
          </a:ln>
        </p:spPr>
      </p:sp>
      <p:sp>
        <p:nvSpPr>
          <p:cNvPr id="18" name="Text 16"/>
          <p:cNvSpPr txBox="1"/>
          <p:nvPr/>
        </p:nvSpPr>
        <p:spPr>
          <a:xfrm>
            <a:off x="8357616" y="2487168"/>
            <a:ext cx="2999232" cy="347472"/>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Aptos" pitchFamily="34" charset="0"/>
                <a:ea typeface="Aptos" pitchFamily="34" charset="-122"/>
                <a:cs typeface="Aptos" pitchFamily="34" charset="-120"/>
              </a:rPr>
              <a:t>Evidence validator</a:t>
            </a:r>
            <a:endParaRPr lang="en-US" sz="1900" dirty="0"/>
          </a:p>
        </p:txBody>
      </p:sp>
      <p:sp>
        <p:nvSpPr>
          <p:cNvPr id="19" name="Text 17"/>
          <p:cNvSpPr txBox="1"/>
          <p:nvPr/>
        </p:nvSpPr>
        <p:spPr>
          <a:xfrm>
            <a:off x="8357616" y="2999232"/>
            <a:ext cx="2999232" cy="676656"/>
          </a:xfrm>
          <a:prstGeom prst="rect">
            <a:avLst/>
          </a:prstGeom>
          <a:noFill/>
          <a:ln/>
        </p:spPr>
        <p:txBody>
          <a:bodyPr wrap="square" lIns="0" tIns="0" rIns="0" bIns="0" rtlCol="0" anchor="t">
            <a:normAutofit/>
          </a:bodyPr>
          <a:lstStyle/>
          <a:p>
            <a:pPr algn="l" indent="0" marL="0">
              <a:buNone/>
            </a:pPr>
            <a:r>
              <a:rPr lang="en-US" sz="1350" dirty="0">
                <a:solidFill>
                  <a:srgbClr val="D4E7CF"/>
                </a:solidFill>
                <a:latin typeface="Aptos" pitchFamily="34" charset="0"/>
                <a:ea typeface="Aptos" pitchFamily="34" charset="-122"/>
                <a:cs typeface="Aptos" pitchFamily="34" charset="-120"/>
              </a:rPr>
              <a:t>Schema check + transcript-span check</a:t>
            </a:r>
            <a:endParaRPr lang="en-US" sz="1350" dirty="0"/>
          </a:p>
          <a:p>
            <a:pPr algn="l" indent="0" marL="0">
              <a:buNone/>
            </a:pPr>
            <a:r>
              <a:rPr lang="en-US" sz="1350" dirty="0">
                <a:solidFill>
                  <a:srgbClr val="D4E7CF"/>
                </a:solidFill>
                <a:latin typeface="Aptos" pitchFamily="34" charset="0"/>
                <a:ea typeface="Aptos" pitchFamily="34" charset="-122"/>
                <a:cs typeface="Aptos" pitchFamily="34" charset="-120"/>
              </a:rPr>
              <a:t>invalid row → deterministic fallback</a:t>
            </a:r>
            <a:endParaRPr lang="en-US" sz="1350" dirty="0"/>
          </a:p>
        </p:txBody>
      </p:sp>
      <p:sp>
        <p:nvSpPr>
          <p:cNvPr id="20" name="Shape 18"/>
          <p:cNvSpPr/>
          <p:nvPr/>
        </p:nvSpPr>
        <p:spPr>
          <a:xfrm>
            <a:off x="2048256" y="4443984"/>
            <a:ext cx="8028432" cy="1124712"/>
          </a:xfrm>
          <a:prstGeom prst="roundRect">
            <a:avLst>
              <a:gd name="adj" fmla="val 13008"/>
            </a:avLst>
          </a:prstGeom>
          <a:solidFill>
            <a:srgbClr val="F2F0E8"/>
          </a:solidFill>
          <a:ln w="10160">
            <a:solidFill>
              <a:srgbClr val="D8DCCF"/>
            </a:solidFill>
            <a:prstDash val="solid"/>
          </a:ln>
        </p:spPr>
      </p:sp>
      <p:sp>
        <p:nvSpPr>
          <p:cNvPr id="21" name="Shape 19"/>
          <p:cNvSpPr/>
          <p:nvPr/>
        </p:nvSpPr>
        <p:spPr>
          <a:xfrm>
            <a:off x="2322576" y="4681728"/>
            <a:ext cx="1097280" cy="310896"/>
          </a:xfrm>
          <a:prstGeom prst="roundRect">
            <a:avLst>
              <a:gd name="adj" fmla="val 50000"/>
            </a:avLst>
          </a:prstGeom>
          <a:solidFill>
            <a:srgbClr val="F4C72F"/>
          </a:solidFill>
          <a:ln w="10160">
            <a:solidFill>
              <a:srgbClr val="F4C72F"/>
            </a:solidFill>
            <a:prstDash val="solid"/>
          </a:ln>
        </p:spPr>
      </p:sp>
      <p:sp>
        <p:nvSpPr>
          <p:cNvPr id="22" name="Text 20"/>
          <p:cNvSpPr txBox="1"/>
          <p:nvPr/>
        </p:nvSpPr>
        <p:spPr>
          <a:xfrm>
            <a:off x="2432304" y="4700016"/>
            <a:ext cx="877824"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FALLBACK</a:t>
            </a:r>
            <a:endParaRPr lang="en-US" sz="1050" dirty="0"/>
          </a:p>
        </p:txBody>
      </p:sp>
      <p:sp>
        <p:nvSpPr>
          <p:cNvPr id="23" name="Text 21"/>
          <p:cNvSpPr txBox="1"/>
          <p:nvPr/>
        </p:nvSpPr>
        <p:spPr>
          <a:xfrm>
            <a:off x="3621024" y="4608576"/>
            <a:ext cx="3419856" cy="310896"/>
          </a:xfrm>
          <a:prstGeom prst="rect">
            <a:avLst/>
          </a:prstGeom>
          <a:noFill/>
          <a:ln/>
        </p:spPr>
        <p:txBody>
          <a:bodyPr wrap="square" lIns="0" tIns="0" rIns="0" bIns="0" rtlCol="0" anchor="ctr">
            <a:normAutofit/>
          </a:bodyPr>
          <a:lstStyle/>
          <a:p>
            <a:pPr algn="l" indent="0" marL="0">
              <a:buNone/>
            </a:pPr>
            <a:r>
              <a:rPr lang="en-US" sz="1800" b="1" dirty="0">
                <a:solidFill>
                  <a:srgbClr val="171A16"/>
                </a:solidFill>
                <a:latin typeface="Aptos" pitchFamily="34" charset="0"/>
                <a:ea typeface="Aptos" pitchFamily="34" charset="-122"/>
                <a:cs typeface="Aptos" pitchFamily="34" charset="-120"/>
              </a:rPr>
              <a:t>Pure deterministic analyzer runs on the device</a:t>
            </a:r>
            <a:endParaRPr lang="en-US" sz="1800" dirty="0"/>
          </a:p>
        </p:txBody>
      </p:sp>
      <p:sp>
        <p:nvSpPr>
          <p:cNvPr id="24" name="Text 22"/>
          <p:cNvSpPr txBox="1"/>
          <p:nvPr/>
        </p:nvSpPr>
        <p:spPr>
          <a:xfrm>
            <a:off x="3621024" y="4992624"/>
            <a:ext cx="5888736" cy="274320"/>
          </a:xfrm>
          <a:prstGeom prst="rect">
            <a:avLst/>
          </a:prstGeom>
          <a:noFill/>
          <a:ln/>
        </p:spPr>
        <p:txBody>
          <a:bodyPr wrap="square" lIns="0" tIns="0" rIns="0" bIns="0" rtlCol="0" anchor="ctr">
            <a:normAutofit/>
          </a:bodyPr>
          <a:lstStyle/>
          <a:p>
            <a:pPr algn="l" indent="0" marL="0">
              <a:buNone/>
            </a:pPr>
            <a:r>
              <a:rPr lang="en-US" sz="1320" dirty="0">
                <a:solidFill>
                  <a:srgbClr val="667064"/>
                </a:solidFill>
                <a:latin typeface="Aptos" pitchFamily="34" charset="0"/>
                <a:ea typeface="Aptos" pitchFamily="34" charset="-122"/>
                <a:cs typeface="Aptos" pitchFamily="34" charset="-120"/>
              </a:rPr>
              <a:t>No API call · same evidence-card contract · full demo still completes offline</a:t>
            </a:r>
            <a:endParaRPr lang="en-US" sz="1320" dirty="0"/>
          </a:p>
        </p:txBody>
      </p:sp>
      <p:sp>
        <p:nvSpPr>
          <p:cNvPr id="25" name="Text 23"/>
          <p:cNvSpPr txBox="1"/>
          <p:nvPr/>
        </p:nvSpPr>
        <p:spPr>
          <a:xfrm>
            <a:off x="2377440" y="5806440"/>
            <a:ext cx="7461504" cy="274320"/>
          </a:xfrm>
          <a:prstGeom prst="rect">
            <a:avLst/>
          </a:prstGeom>
          <a:noFill/>
          <a:ln/>
        </p:spPr>
        <p:txBody>
          <a:bodyPr wrap="square" lIns="0" tIns="0" rIns="0" bIns="0" rtlCol="0" anchor="ctr">
            <a:normAutofit/>
          </a:bodyPr>
          <a:lstStyle/>
          <a:p>
            <a:pPr algn="ctr" indent="0" marL="0">
              <a:buNone/>
            </a:pPr>
            <a:r>
              <a:rPr lang="en-US" sz="1350" b="1" dirty="0">
                <a:solidFill>
                  <a:srgbClr val="1E4A19"/>
                </a:solidFill>
                <a:latin typeface="Aptos" pitchFamily="34" charset="0"/>
                <a:ea typeface="Aptos" pitchFamily="34" charset="-122"/>
                <a:cs typeface="Aptos" pitchFamily="34" charset="-120"/>
              </a:rPr>
              <a:t>Raw audio is not persisted. Production expansion requires consent, expiry and deletion.</a:t>
            </a:r>
            <a:endParaRPr lang="en-US" sz="135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384048"/>
            <a:ext cx="4389120" cy="219456"/>
          </a:xfrm>
          <a:prstGeom prst="rect">
            <a:avLst/>
          </a:prstGeom>
          <a:noFill/>
          <a:ln/>
        </p:spPr>
        <p:txBody>
          <a:bodyPr wrap="square" lIns="0" tIns="0" rIns="0" bIns="0" rtlCol="0" anchor="ctr">
            <a:normAutofit/>
          </a:bodyPr>
          <a:lstStyle/>
          <a:p>
            <a:pPr algn="l" indent="0" marL="0">
              <a:buNone/>
            </a:pPr>
            <a:r>
              <a:rPr lang="en-US" sz="1050" b="1" spc="180" kern="0" dirty="0">
                <a:solidFill>
                  <a:srgbClr val="2F6A25"/>
                </a:solidFill>
                <a:latin typeface="Aptos" pitchFamily="34" charset="0"/>
                <a:ea typeface="Aptos" pitchFamily="34" charset="-122"/>
                <a:cs typeface="Aptos" pitchFamily="34" charset="-120"/>
              </a:rPr>
              <a:t>DIFFERENTIATION</a:t>
            </a:r>
            <a:endParaRPr lang="en-US" sz="1050" dirty="0"/>
          </a:p>
        </p:txBody>
      </p:sp>
      <p:sp>
        <p:nvSpPr>
          <p:cNvPr id="3" name="Text 1"/>
          <p:cNvSpPr txBox="1"/>
          <p:nvPr/>
        </p:nvSpPr>
        <p:spPr>
          <a:xfrm>
            <a:off x="594360" y="676656"/>
            <a:ext cx="10972800" cy="731520"/>
          </a:xfrm>
          <a:prstGeom prst="rect">
            <a:avLst/>
          </a:prstGeom>
          <a:noFill/>
          <a:ln/>
        </p:spPr>
        <p:txBody>
          <a:bodyPr wrap="square" lIns="0" tIns="0" rIns="0" bIns="0" rtlCol="0" anchor="t">
            <a:normAutofit/>
          </a:bodyPr>
          <a:lstStyle/>
          <a:p>
            <a:pPr algn="l" indent="0" marL="0">
              <a:buNone/>
            </a:pPr>
            <a:r>
              <a:rPr lang="en-US" sz="3500" b="1" dirty="0">
                <a:solidFill>
                  <a:srgbClr val="171A16"/>
                </a:solidFill>
                <a:latin typeface="Aptos Display" pitchFamily="34" charset="0"/>
                <a:ea typeface="Aptos Display" pitchFamily="34" charset="-122"/>
                <a:cs typeface="Aptos Display" pitchFamily="34" charset="-120"/>
              </a:rPr>
              <a:t>We do not win by pretending custom rubrics do not exist.</a:t>
            </a:r>
            <a:endParaRPr lang="en-US" sz="3500" dirty="0"/>
          </a:p>
        </p:txBody>
      </p:sp>
      <p:sp>
        <p:nvSpPr>
          <p:cNvPr id="4" name="Text 2"/>
          <p:cNvSpPr txBox="1"/>
          <p:nvPr/>
        </p:nvSpPr>
        <p:spPr>
          <a:xfrm>
            <a:off x="621792" y="1408176"/>
            <a:ext cx="10789920" cy="429768"/>
          </a:xfrm>
          <a:prstGeom prst="rect">
            <a:avLst/>
          </a:prstGeom>
          <a:noFill/>
          <a:ln/>
        </p:spPr>
        <p:txBody>
          <a:bodyPr wrap="square" lIns="0" tIns="0" rIns="0" bIns="0" rtlCol="0" anchor="t">
            <a:normAutofit/>
          </a:bodyPr>
          <a:lstStyle/>
          <a:p>
            <a:pPr algn="l" indent="0" marL="0">
              <a:buNone/>
            </a:pPr>
            <a:r>
              <a:rPr lang="en-US" sz="1650" dirty="0">
                <a:solidFill>
                  <a:srgbClr val="667064"/>
                </a:solidFill>
                <a:latin typeface="Aptos" pitchFamily="34" charset="0"/>
                <a:ea typeface="Aptos" pitchFamily="34" charset="-122"/>
                <a:cs typeface="Aptos" pitchFamily="34" charset="-120"/>
              </a:rPr>
              <a:t>We win by centering the evaluator’s published rubric and enforcing traceable evidence for students.</a:t>
            </a:r>
            <a:endParaRPr lang="en-US" sz="1650" dirty="0"/>
          </a:p>
        </p:txBody>
      </p:sp>
      <p:sp>
        <p:nvSpPr>
          <p:cNvPr id="5" name="Shape 3"/>
          <p:cNvSpPr/>
          <p:nvPr/>
        </p:nvSpPr>
        <p:spPr>
          <a:xfrm>
            <a:off x="621792" y="2084832"/>
            <a:ext cx="3127248" cy="3337560"/>
          </a:xfrm>
          <a:prstGeom prst="roundRect">
            <a:avLst>
              <a:gd name="adj" fmla="val 5263"/>
            </a:avLst>
          </a:prstGeom>
          <a:solidFill>
            <a:srgbClr val="F2F0E8"/>
          </a:solidFill>
          <a:ln w="10160">
            <a:solidFill>
              <a:srgbClr val="D8DCCF"/>
            </a:solidFill>
            <a:prstDash val="solid"/>
          </a:ln>
        </p:spPr>
      </p:sp>
      <p:sp>
        <p:nvSpPr>
          <p:cNvPr id="6" name="Text 4"/>
          <p:cNvSpPr txBox="1"/>
          <p:nvPr/>
        </p:nvSpPr>
        <p:spPr>
          <a:xfrm>
            <a:off x="859536" y="2377440"/>
            <a:ext cx="2651760" cy="237744"/>
          </a:xfrm>
          <a:prstGeom prst="rect">
            <a:avLst/>
          </a:prstGeom>
          <a:noFill/>
          <a:ln/>
        </p:spPr>
        <p:txBody>
          <a:bodyPr wrap="square" lIns="0" tIns="0" rIns="0" bIns="0" rtlCol="0" anchor="ctr">
            <a:normAutofit/>
          </a:bodyPr>
          <a:lstStyle/>
          <a:p>
            <a:pPr algn="l" indent="0" marL="0">
              <a:buNone/>
            </a:pPr>
            <a:r>
              <a:rPr lang="en-US" sz="980" b="1" spc="135" kern="0" dirty="0">
                <a:solidFill>
                  <a:srgbClr val="667064"/>
                </a:solidFill>
                <a:latin typeface="Aptos" pitchFamily="34" charset="0"/>
                <a:ea typeface="Aptos" pitchFamily="34" charset="-122"/>
                <a:cs typeface="Aptos" pitchFamily="34" charset="-120"/>
              </a:rPr>
              <a:t>GENERIC DELIVERY COACH</a:t>
            </a:r>
            <a:endParaRPr lang="en-US" sz="980" dirty="0"/>
          </a:p>
        </p:txBody>
      </p:sp>
      <p:sp>
        <p:nvSpPr>
          <p:cNvPr id="7" name="Text 5"/>
          <p:cNvSpPr txBox="1"/>
          <p:nvPr/>
        </p:nvSpPr>
        <p:spPr>
          <a:xfrm>
            <a:off x="859536" y="2852928"/>
            <a:ext cx="2651760" cy="786384"/>
          </a:xfrm>
          <a:prstGeom prst="rect">
            <a:avLst/>
          </a:prstGeom>
          <a:noFill/>
          <a:ln/>
        </p:spPr>
        <p:txBody>
          <a:bodyPr wrap="square" lIns="0" tIns="0" rIns="0" bIns="0" rtlCol="0" anchor="t">
            <a:normAutofit/>
          </a:bodyPr>
          <a:lstStyle/>
          <a:p>
            <a:pPr algn="l" indent="0" marL="0">
              <a:buNone/>
            </a:pPr>
            <a:r>
              <a:rPr lang="en-US" sz="2400" b="1" dirty="0">
                <a:solidFill>
                  <a:srgbClr val="171A16"/>
                </a:solidFill>
                <a:latin typeface="Aptos Display" pitchFamily="34" charset="0"/>
                <a:ea typeface="Aptos Display" pitchFamily="34" charset="-122"/>
                <a:cs typeface="Aptos Display" pitchFamily="34" charset="-120"/>
              </a:rPr>
              <a:t>How you sounded</a:t>
            </a:r>
            <a:endParaRPr lang="en-US" sz="2400" dirty="0"/>
          </a:p>
        </p:txBody>
      </p:sp>
      <p:sp>
        <p:nvSpPr>
          <p:cNvPr id="8" name="Text 6"/>
          <p:cNvSpPr txBox="1"/>
          <p:nvPr/>
        </p:nvSpPr>
        <p:spPr>
          <a:xfrm>
            <a:off x="859536" y="3913632"/>
            <a:ext cx="2651760" cy="1005840"/>
          </a:xfrm>
          <a:prstGeom prst="rect">
            <a:avLst/>
          </a:prstGeom>
          <a:noFill/>
          <a:ln/>
        </p:spPr>
        <p:txBody>
          <a:bodyPr wrap="square" lIns="0" tIns="0" rIns="0" bIns="0" rtlCol="0" anchor="t">
            <a:normAutofit/>
          </a:bodyPr>
          <a:lstStyle/>
          <a:p>
            <a:pPr algn="l" indent="0" marL="0">
              <a:buNone/>
            </a:pPr>
            <a:r>
              <a:rPr lang="en-US" sz="1450" dirty="0">
                <a:solidFill>
                  <a:srgbClr val="667064"/>
                </a:solidFill>
                <a:latin typeface="Aptos" pitchFamily="34" charset="0"/>
                <a:ea typeface="Aptos" pitchFamily="34" charset="-122"/>
                <a:cs typeface="Aptos" pitchFamily="34" charset="-120"/>
              </a:rPr>
              <a:t>Pace, fillers, delivery and generic practice feedback.</a:t>
            </a:r>
            <a:endParaRPr lang="en-US" sz="1450" dirty="0"/>
          </a:p>
        </p:txBody>
      </p:sp>
      <p:sp>
        <p:nvSpPr>
          <p:cNvPr id="9" name="Shape 7"/>
          <p:cNvSpPr/>
          <p:nvPr/>
        </p:nvSpPr>
        <p:spPr>
          <a:xfrm>
            <a:off x="4096512" y="2084832"/>
            <a:ext cx="3529584" cy="3337560"/>
          </a:xfrm>
          <a:prstGeom prst="roundRect">
            <a:avLst>
              <a:gd name="adj" fmla="val 4932"/>
            </a:avLst>
          </a:prstGeom>
          <a:solidFill>
            <a:srgbClr val="EEEAFB"/>
          </a:solidFill>
          <a:ln w="10160">
            <a:solidFill>
              <a:srgbClr val="D8DCCF"/>
            </a:solidFill>
            <a:prstDash val="solid"/>
          </a:ln>
        </p:spPr>
      </p:sp>
      <p:sp>
        <p:nvSpPr>
          <p:cNvPr id="10" name="Text 8"/>
          <p:cNvSpPr txBox="1"/>
          <p:nvPr/>
        </p:nvSpPr>
        <p:spPr>
          <a:xfrm>
            <a:off x="4334256" y="2377440"/>
            <a:ext cx="3054096" cy="237744"/>
          </a:xfrm>
          <a:prstGeom prst="rect">
            <a:avLst/>
          </a:prstGeom>
          <a:noFill/>
          <a:ln/>
        </p:spPr>
        <p:txBody>
          <a:bodyPr wrap="square" lIns="0" tIns="0" rIns="0" bIns="0" rtlCol="0" anchor="ctr">
            <a:normAutofit/>
          </a:bodyPr>
          <a:lstStyle/>
          <a:p>
            <a:pPr algn="l" indent="0" marL="0">
              <a:buNone/>
            </a:pPr>
            <a:r>
              <a:rPr lang="en-US" sz="980" b="1" spc="135" kern="0" dirty="0">
                <a:solidFill>
                  <a:srgbClr val="5138BD"/>
                </a:solidFill>
                <a:latin typeface="Aptos" pitchFamily="34" charset="0"/>
                <a:ea typeface="Aptos" pitchFamily="34" charset="-122"/>
                <a:cs typeface="Aptos" pitchFamily="34" charset="-120"/>
              </a:rPr>
              <a:t>ENTERPRISE CUSTOM GOALS</a:t>
            </a:r>
            <a:endParaRPr lang="en-US" sz="980" dirty="0"/>
          </a:p>
        </p:txBody>
      </p:sp>
      <p:sp>
        <p:nvSpPr>
          <p:cNvPr id="11" name="Text 9"/>
          <p:cNvSpPr txBox="1"/>
          <p:nvPr/>
        </p:nvSpPr>
        <p:spPr>
          <a:xfrm>
            <a:off x="4334256" y="2852928"/>
            <a:ext cx="3054096" cy="786384"/>
          </a:xfrm>
          <a:prstGeom prst="rect">
            <a:avLst/>
          </a:prstGeom>
          <a:noFill/>
          <a:ln/>
        </p:spPr>
        <p:txBody>
          <a:bodyPr wrap="square" lIns="0" tIns="0" rIns="0" bIns="0" rtlCol="0" anchor="t">
            <a:normAutofit/>
          </a:bodyPr>
          <a:lstStyle/>
          <a:p>
            <a:pPr algn="l" indent="0" marL="0">
              <a:buNone/>
            </a:pPr>
            <a:r>
              <a:rPr lang="en-US" sz="2400" b="1" dirty="0">
                <a:solidFill>
                  <a:srgbClr val="171A16"/>
                </a:solidFill>
                <a:latin typeface="Aptos Display" pitchFamily="34" charset="0"/>
                <a:ea typeface="Aptos Display" pitchFamily="34" charset="-122"/>
                <a:cs typeface="Aptos Display" pitchFamily="34" charset="-120"/>
              </a:rPr>
              <a:t>How the organisation scores</a:t>
            </a:r>
            <a:endParaRPr lang="en-US" sz="2400" dirty="0"/>
          </a:p>
        </p:txBody>
      </p:sp>
      <p:sp>
        <p:nvSpPr>
          <p:cNvPr id="12" name="Text 10"/>
          <p:cNvSpPr txBox="1"/>
          <p:nvPr/>
        </p:nvSpPr>
        <p:spPr>
          <a:xfrm>
            <a:off x="4334256" y="3913632"/>
            <a:ext cx="3054096" cy="1005840"/>
          </a:xfrm>
          <a:prstGeom prst="rect">
            <a:avLst/>
          </a:prstGeom>
          <a:noFill/>
          <a:ln/>
        </p:spPr>
        <p:txBody>
          <a:bodyPr wrap="square" lIns="0" tIns="0" rIns="0" bIns="0" rtlCol="0" anchor="t">
            <a:normAutofit/>
          </a:bodyPr>
          <a:lstStyle/>
          <a:p>
            <a:pPr algn="l" indent="0" marL="0">
              <a:buNone/>
            </a:pPr>
            <a:r>
              <a:rPr lang="en-US" sz="1450" dirty="0">
                <a:solidFill>
                  <a:srgbClr val="667064"/>
                </a:solidFill>
                <a:latin typeface="Aptos" pitchFamily="34" charset="0"/>
                <a:ea typeface="Aptos" pitchFamily="34" charset="-122"/>
                <a:cs typeface="Aptos" pitchFamily="34" charset="-120"/>
              </a:rPr>
              <a:t>Yoodli lets enterprise organisations import scorecards and rubrics.</a:t>
            </a:r>
            <a:endParaRPr lang="en-US" sz="1450" dirty="0"/>
          </a:p>
        </p:txBody>
      </p:sp>
      <p:sp>
        <p:nvSpPr>
          <p:cNvPr id="13" name="Shape 11"/>
          <p:cNvSpPr/>
          <p:nvPr/>
        </p:nvSpPr>
        <p:spPr>
          <a:xfrm>
            <a:off x="7973568" y="2084832"/>
            <a:ext cx="3584448" cy="3337560"/>
          </a:xfrm>
          <a:prstGeom prst="roundRect">
            <a:avLst>
              <a:gd name="adj" fmla="val 4932"/>
            </a:avLst>
          </a:prstGeom>
          <a:solidFill>
            <a:srgbClr val="1E4A19"/>
          </a:solidFill>
          <a:ln w="10160">
            <a:solidFill>
              <a:srgbClr val="1E4A19"/>
            </a:solidFill>
            <a:prstDash val="solid"/>
          </a:ln>
        </p:spPr>
      </p:sp>
      <p:sp>
        <p:nvSpPr>
          <p:cNvPr id="14" name="Text 12"/>
          <p:cNvSpPr txBox="1"/>
          <p:nvPr/>
        </p:nvSpPr>
        <p:spPr>
          <a:xfrm>
            <a:off x="8211312" y="2377440"/>
            <a:ext cx="3108960" cy="237744"/>
          </a:xfrm>
          <a:prstGeom prst="rect">
            <a:avLst/>
          </a:prstGeom>
          <a:noFill/>
          <a:ln/>
        </p:spPr>
        <p:txBody>
          <a:bodyPr wrap="square" lIns="0" tIns="0" rIns="0" bIns="0" rtlCol="0" anchor="ctr">
            <a:normAutofit/>
          </a:bodyPr>
          <a:lstStyle/>
          <a:p>
            <a:pPr algn="l" indent="0" marL="0">
              <a:buNone/>
            </a:pPr>
            <a:r>
              <a:rPr lang="en-US" sz="980" b="1" spc="135" kern="0" dirty="0">
                <a:solidFill>
                  <a:srgbClr val="F4C72F"/>
                </a:solidFill>
                <a:latin typeface="Aptos" pitchFamily="34" charset="0"/>
                <a:ea typeface="Aptos" pitchFamily="34" charset="-122"/>
                <a:cs typeface="Aptos" pitchFamily="34" charset="-120"/>
              </a:rPr>
              <a:t>TALK-ACTIVE</a:t>
            </a:r>
            <a:endParaRPr lang="en-US" sz="980" dirty="0"/>
          </a:p>
        </p:txBody>
      </p:sp>
      <p:sp>
        <p:nvSpPr>
          <p:cNvPr id="15" name="Text 13"/>
          <p:cNvSpPr txBox="1"/>
          <p:nvPr/>
        </p:nvSpPr>
        <p:spPr>
          <a:xfrm>
            <a:off x="8211312" y="2852928"/>
            <a:ext cx="3108960" cy="786384"/>
          </a:xfrm>
          <a:prstGeom prst="rect">
            <a:avLst/>
          </a:prstGeom>
          <a:noFill/>
          <a:ln/>
        </p:spPr>
        <p:txBody>
          <a:bodyPr wrap="square" lIns="0" tIns="0" rIns="0" bIns="0" rtlCol="0" anchor="t">
            <a:normAutofit/>
          </a:bodyPr>
          <a:lstStyle/>
          <a:p>
            <a:pPr algn="l" indent="0" marL="0">
              <a:buNone/>
            </a:pPr>
            <a:r>
              <a:rPr lang="en-US" sz="2400" dirty="0">
                <a:solidFill>
                  <a:srgbClr val="FFFFFF"/>
                </a:solidFill>
                <a:latin typeface="Georgia" pitchFamily="34" charset="0"/>
                <a:ea typeface="Georgia" pitchFamily="34" charset="-122"/>
                <a:cs typeface="Georgia" pitchFamily="34" charset="-120"/>
              </a:rPr>
              <a:t>What the evaluator will decide</a:t>
            </a:r>
            <a:endParaRPr lang="en-US" sz="2400" dirty="0"/>
          </a:p>
        </p:txBody>
      </p:sp>
      <p:sp>
        <p:nvSpPr>
          <p:cNvPr id="16" name="Text 14"/>
          <p:cNvSpPr txBox="1"/>
          <p:nvPr/>
        </p:nvSpPr>
        <p:spPr>
          <a:xfrm>
            <a:off x="8211312" y="3913632"/>
            <a:ext cx="3108960" cy="1005840"/>
          </a:xfrm>
          <a:prstGeom prst="rect">
            <a:avLst/>
          </a:prstGeom>
          <a:noFill/>
          <a:ln/>
        </p:spPr>
        <p:txBody>
          <a:bodyPr wrap="square" lIns="0" tIns="0" rIns="0" bIns="0" rtlCol="0" anchor="t">
            <a:normAutofit/>
          </a:bodyPr>
          <a:lstStyle/>
          <a:p>
            <a:pPr algn="l" indent="0" marL="0">
              <a:buNone/>
            </a:pPr>
            <a:r>
              <a:rPr lang="en-US" sz="1450" dirty="0">
                <a:solidFill>
                  <a:srgbClr val="D7E8D2"/>
                </a:solidFill>
                <a:latin typeface="Aptos" pitchFamily="34" charset="0"/>
                <a:ea typeface="Aptos" pitchFamily="34" charset="-122"/>
                <a:cs typeface="Aptos" pitchFamily="34" charset="-120"/>
              </a:rPr>
              <a:t>A student loads the published judging rubric; every supporting verdict must cite their words.</a:t>
            </a:r>
            <a:endParaRPr lang="en-US" sz="1450" dirty="0"/>
          </a:p>
        </p:txBody>
      </p:sp>
      <p:sp>
        <p:nvSpPr>
          <p:cNvPr id="17" name="Shape 15"/>
          <p:cNvSpPr/>
          <p:nvPr/>
        </p:nvSpPr>
        <p:spPr>
          <a:xfrm>
            <a:off x="640080" y="5669280"/>
            <a:ext cx="1572768" cy="310896"/>
          </a:xfrm>
          <a:prstGeom prst="roundRect">
            <a:avLst>
              <a:gd name="adj" fmla="val 50000"/>
            </a:avLst>
          </a:prstGeom>
          <a:solidFill>
            <a:srgbClr val="F4C72F"/>
          </a:solidFill>
          <a:ln w="10160">
            <a:solidFill>
              <a:srgbClr val="F4C72F"/>
            </a:solidFill>
            <a:prstDash val="solid"/>
          </a:ln>
        </p:spPr>
      </p:sp>
      <p:sp>
        <p:nvSpPr>
          <p:cNvPr id="18" name="Text 16"/>
          <p:cNvSpPr txBox="1"/>
          <p:nvPr/>
        </p:nvSpPr>
        <p:spPr>
          <a:xfrm>
            <a:off x="749808" y="5687568"/>
            <a:ext cx="1353312" cy="256032"/>
          </a:xfrm>
          <a:prstGeom prst="rect">
            <a:avLst/>
          </a:prstGeom>
          <a:noFill/>
          <a:ln/>
        </p:spPr>
        <p:txBody>
          <a:bodyPr wrap="square" lIns="0" tIns="0" rIns="0" bIns="0" rtlCol="0" anchor="ctr">
            <a:normAutofit/>
          </a:bodyPr>
          <a:lstStyle/>
          <a:p>
            <a:pPr algn="ctr" indent="0" marL="0">
              <a:buNone/>
            </a:pPr>
            <a:r>
              <a:rPr lang="en-US" sz="1050" b="1" spc="80" kern="0" dirty="0">
                <a:solidFill>
                  <a:srgbClr val="171A16"/>
                </a:solidFill>
                <a:latin typeface="Aptos" pitchFamily="34" charset="0"/>
                <a:ea typeface="Aptos" pitchFamily="34" charset="-122"/>
                <a:cs typeface="Aptos" pitchFamily="34" charset="-120"/>
              </a:rPr>
              <a:t>HONEST POSITION</a:t>
            </a:r>
            <a:endParaRPr lang="en-US" sz="1050" dirty="0"/>
          </a:p>
        </p:txBody>
      </p:sp>
      <p:sp>
        <p:nvSpPr>
          <p:cNvPr id="19" name="Text 17"/>
          <p:cNvSpPr txBox="1"/>
          <p:nvPr/>
        </p:nvSpPr>
        <p:spPr>
          <a:xfrm>
            <a:off x="2395728" y="5641848"/>
            <a:ext cx="8906256" cy="365760"/>
          </a:xfrm>
          <a:prstGeom prst="rect">
            <a:avLst/>
          </a:prstGeom>
          <a:noFill/>
          <a:ln/>
        </p:spPr>
        <p:txBody>
          <a:bodyPr wrap="square" lIns="0" tIns="0" rIns="0" bIns="0" rtlCol="0" anchor="ctr">
            <a:normAutofit/>
          </a:bodyPr>
          <a:lstStyle/>
          <a:p>
            <a:pPr algn="l" indent="0" marL="0">
              <a:buNone/>
            </a:pPr>
            <a:r>
              <a:rPr lang="en-US" sz="1420" b="1" dirty="0">
                <a:solidFill>
                  <a:srgbClr val="1E4A19"/>
                </a:solidFill>
                <a:latin typeface="Aptos" pitchFamily="34" charset="0"/>
                <a:ea typeface="Aptos" pitchFamily="34" charset="-122"/>
                <a:cs typeface="Aptos" pitchFamily="34" charset="-120"/>
              </a:rPr>
              <a:t>Competition pitching is the beachhead; thesis-defense and scholarship rehearsal already have Indonesian competitors.</a:t>
            </a:r>
            <a:endParaRPr lang="en-US" sz="1420" dirty="0"/>
          </a:p>
        </p:txBody>
      </p:sp>
      <p:sp>
        <p:nvSpPr>
          <p:cNvPr id="20" name="Text 18"/>
          <p:cNvSpPr/>
          <p:nvPr/>
        </p:nvSpPr>
        <p:spPr>
          <a:xfrm>
            <a:off x="621792" y="6217920"/>
            <a:ext cx="10881360" cy="164592"/>
          </a:xfrm>
          <a:prstGeom prst="rect">
            <a:avLst/>
          </a:prstGeom>
          <a:noFill/>
          <a:ln/>
        </p:spPr>
        <p:txBody>
          <a:bodyPr wrap="square" lIns="0" tIns="0" rIns="0" bIns="0" rtlCol="0" anchor="ctr">
            <a:normAutofit/>
          </a:bodyPr>
          <a:lstStyle/>
          <a:p>
            <a:pPr algn="l" indent="0" marL="0">
              <a:buNone/>
            </a:pPr>
            <a:r>
              <a:rPr lang="en-US" sz="820" i="1" dirty="0">
                <a:solidFill>
                  <a:srgbClr val="667064"/>
                </a:solidFill>
                <a:latin typeface="Aptos" pitchFamily="34" charset="0"/>
                <a:ea typeface="Aptos" pitchFamily="34" charset="-122"/>
                <a:cs typeface="Aptos" pitchFamily="34" charset="-120"/>
              </a:rPr>
              <a:t>Source: Yoodli Support, “Creating Custom Goals” (Enterprise); Indonesian competitor research in docs/MENTORING/market-validation-research.md.</a:t>
            </a:r>
            <a:pPr algn="l" indent="0" marL="0">
              <a:buNone/>
            </a:pPr>
            <a:r>
              <a:rPr lang="en-US" sz="820" b="1" u="sng" dirty="0">
                <a:solidFill>
                  <a:srgbClr val="1984A6"/>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a:t>
            </a:r>
            <a:endParaRPr lang="en-US" sz="82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94360" y="384048"/>
            <a:ext cx="4389120" cy="219456"/>
          </a:xfrm>
          <a:prstGeom prst="rect">
            <a:avLst/>
          </a:prstGeom>
          <a:noFill/>
          <a:ln/>
        </p:spPr>
        <p:txBody>
          <a:bodyPr wrap="square" lIns="0" tIns="0" rIns="0" bIns="0" rtlCol="0" anchor="ctr">
            <a:normAutofit/>
          </a:bodyPr>
          <a:lstStyle/>
          <a:p>
            <a:pPr algn="l" indent="0" marL="0">
              <a:buNone/>
            </a:pPr>
            <a:r>
              <a:rPr lang="en-US" sz="1050" b="1" spc="180" kern="0" dirty="0">
                <a:solidFill>
                  <a:srgbClr val="2F6A25"/>
                </a:solidFill>
                <a:latin typeface="Aptos" pitchFamily="34" charset="0"/>
                <a:ea typeface="Aptos" pitchFamily="34" charset="-122"/>
                <a:cs typeface="Aptos" pitchFamily="34" charset="-120"/>
              </a:rPr>
              <a:t>PRODUCTION REALITY</a:t>
            </a:r>
            <a:endParaRPr lang="en-US" sz="1050" dirty="0"/>
          </a:p>
        </p:txBody>
      </p:sp>
      <p:sp>
        <p:nvSpPr>
          <p:cNvPr id="3" name="Text 1"/>
          <p:cNvSpPr txBox="1"/>
          <p:nvPr/>
        </p:nvSpPr>
        <p:spPr>
          <a:xfrm>
            <a:off x="594360" y="676656"/>
            <a:ext cx="10972800" cy="731520"/>
          </a:xfrm>
          <a:prstGeom prst="rect">
            <a:avLst/>
          </a:prstGeom>
          <a:noFill/>
          <a:ln/>
        </p:spPr>
        <p:txBody>
          <a:bodyPr wrap="square" lIns="0" tIns="0" rIns="0" bIns="0" rtlCol="0" anchor="t">
            <a:normAutofit/>
          </a:bodyPr>
          <a:lstStyle/>
          <a:p>
            <a:pPr algn="l" indent="0" marL="0">
              <a:buNone/>
            </a:pPr>
            <a:r>
              <a:rPr lang="en-US" sz="3500" b="1" dirty="0">
                <a:solidFill>
                  <a:srgbClr val="171A16"/>
                </a:solidFill>
                <a:latin typeface="Aptos Display" pitchFamily="34" charset="0"/>
                <a:ea typeface="Aptos Display" pitchFamily="34" charset="-122"/>
                <a:cs typeface="Aptos Display" pitchFamily="34" charset="-120"/>
              </a:rPr>
              <a:t>Built to survive the demo—and the bill.</a:t>
            </a:r>
            <a:endParaRPr lang="en-US" sz="3500" dirty="0"/>
          </a:p>
        </p:txBody>
      </p:sp>
      <p:sp>
        <p:nvSpPr>
          <p:cNvPr id="4" name="Text 2"/>
          <p:cNvSpPr txBox="1"/>
          <p:nvPr/>
        </p:nvSpPr>
        <p:spPr>
          <a:xfrm>
            <a:off x="621792" y="1408176"/>
            <a:ext cx="10789920" cy="429768"/>
          </a:xfrm>
          <a:prstGeom prst="rect">
            <a:avLst/>
          </a:prstGeom>
          <a:noFill/>
          <a:ln/>
        </p:spPr>
        <p:txBody>
          <a:bodyPr wrap="square" lIns="0" tIns="0" rIns="0" bIns="0" rtlCol="0" anchor="t">
            <a:normAutofit/>
          </a:bodyPr>
          <a:lstStyle/>
          <a:p>
            <a:pPr algn="l" indent="0" marL="0">
              <a:buNone/>
            </a:pPr>
            <a:r>
              <a:rPr lang="en-US" sz="1650" dirty="0">
                <a:solidFill>
                  <a:srgbClr val="667064"/>
                </a:solidFill>
                <a:latin typeface="Aptos" pitchFamily="34" charset="0"/>
                <a:ea typeface="Aptos" pitchFamily="34" charset="-122"/>
                <a:cs typeface="Aptos" pitchFamily="34" charset="-120"/>
              </a:rPr>
              <a:t>Hard limits make the product calmer on stage and safer after it.</a:t>
            </a:r>
            <a:endParaRPr lang="en-US" sz="1650" dirty="0"/>
          </a:p>
        </p:txBody>
      </p:sp>
      <p:sp>
        <p:nvSpPr>
          <p:cNvPr id="5" name="Shape 3"/>
          <p:cNvSpPr/>
          <p:nvPr/>
        </p:nvSpPr>
        <p:spPr>
          <a:xfrm>
            <a:off x="621792" y="2066544"/>
            <a:ext cx="1792224" cy="1993392"/>
          </a:xfrm>
          <a:prstGeom prst="roundRect">
            <a:avLst>
              <a:gd name="adj" fmla="val 9184"/>
            </a:avLst>
          </a:prstGeom>
          <a:solidFill>
            <a:srgbClr val="F2F0E8"/>
          </a:solidFill>
          <a:ln w="10160">
            <a:solidFill>
              <a:srgbClr val="D8DCCF"/>
            </a:solidFill>
            <a:prstDash val="solid"/>
          </a:ln>
        </p:spPr>
      </p:sp>
      <p:sp>
        <p:nvSpPr>
          <p:cNvPr id="6" name="Text 4"/>
          <p:cNvSpPr txBox="1"/>
          <p:nvPr/>
        </p:nvSpPr>
        <p:spPr>
          <a:xfrm>
            <a:off x="768096" y="2331720"/>
            <a:ext cx="1499616" cy="603504"/>
          </a:xfrm>
          <a:prstGeom prst="rect">
            <a:avLst/>
          </a:prstGeom>
          <a:noFill/>
          <a:ln/>
        </p:spPr>
        <p:txBody>
          <a:bodyPr wrap="square" lIns="0" tIns="0" rIns="0" bIns="0" rtlCol="0" anchor="ctr">
            <a:normAutofit/>
          </a:bodyPr>
          <a:lstStyle/>
          <a:p>
            <a:pPr algn="ctr" indent="0" marL="0">
              <a:buNone/>
            </a:pPr>
            <a:r>
              <a:rPr lang="en-US" sz="3800" b="1" dirty="0">
                <a:solidFill>
                  <a:srgbClr val="1E4A19"/>
                </a:solidFill>
                <a:latin typeface="Aptos" pitchFamily="34" charset="0"/>
                <a:ea typeface="Aptos" pitchFamily="34" charset="-122"/>
                <a:cs typeface="Aptos" pitchFamily="34" charset="-120"/>
              </a:rPr>
              <a:t>150+</a:t>
            </a:r>
            <a:endParaRPr lang="en-US" sz="3800" dirty="0"/>
          </a:p>
        </p:txBody>
      </p:sp>
      <p:sp>
        <p:nvSpPr>
          <p:cNvPr id="7" name="Text 5"/>
          <p:cNvSpPr txBox="1"/>
          <p:nvPr/>
        </p:nvSpPr>
        <p:spPr>
          <a:xfrm>
            <a:off x="768096" y="2990088"/>
            <a:ext cx="1499616" cy="292608"/>
          </a:xfrm>
          <a:prstGeom prst="rect">
            <a:avLst/>
          </a:prstGeom>
          <a:noFill/>
          <a:ln/>
        </p:spPr>
        <p:txBody>
          <a:bodyPr wrap="square" lIns="0" tIns="0" rIns="0" bIns="0" rtlCol="0" anchor="ctr">
            <a:normAutofit/>
          </a:bodyPr>
          <a:lstStyle/>
          <a:p>
            <a:pPr algn="ctr" indent="0" marL="0">
              <a:buNone/>
            </a:pPr>
            <a:r>
              <a:rPr lang="en-US" sz="1420" b="1" dirty="0">
                <a:solidFill>
                  <a:srgbClr val="171A16"/>
                </a:solidFill>
                <a:latin typeface="Aptos" pitchFamily="34" charset="0"/>
                <a:ea typeface="Aptos" pitchFamily="34" charset="-122"/>
                <a:cs typeface="Aptos" pitchFamily="34" charset="-120"/>
              </a:rPr>
              <a:t>automated tests</a:t>
            </a:r>
            <a:endParaRPr lang="en-US" sz="1420" dirty="0"/>
          </a:p>
        </p:txBody>
      </p:sp>
      <p:sp>
        <p:nvSpPr>
          <p:cNvPr id="8" name="Text 6"/>
          <p:cNvSpPr txBox="1"/>
          <p:nvPr/>
        </p:nvSpPr>
        <p:spPr>
          <a:xfrm>
            <a:off x="768096" y="3383280"/>
            <a:ext cx="1499616" cy="246888"/>
          </a:xfrm>
          <a:prstGeom prst="rect">
            <a:avLst/>
          </a:prstGeom>
          <a:noFill/>
          <a:ln/>
        </p:spPr>
        <p:txBody>
          <a:bodyPr wrap="square" lIns="0" tIns="0" rIns="0" bIns="0" rtlCol="0" anchor="ctr">
            <a:normAutofit/>
          </a:bodyPr>
          <a:lstStyle/>
          <a:p>
            <a:pPr algn="ctr" indent="0" marL="0">
              <a:buNone/>
            </a:pPr>
            <a:r>
              <a:rPr lang="en-US" sz="1080" dirty="0">
                <a:solidFill>
                  <a:srgbClr val="667064"/>
                </a:solidFill>
                <a:latin typeface="Aptos" pitchFamily="34" charset="0"/>
                <a:ea typeface="Aptos" pitchFamily="34" charset="-122"/>
                <a:cs typeface="Aptos" pitchFamily="34" charset="-120"/>
              </a:rPr>
              <a:t>unit + invariant + API</a:t>
            </a:r>
            <a:endParaRPr lang="en-US" sz="1080" dirty="0"/>
          </a:p>
        </p:txBody>
      </p:sp>
      <p:sp>
        <p:nvSpPr>
          <p:cNvPr id="9" name="Shape 7"/>
          <p:cNvSpPr/>
          <p:nvPr/>
        </p:nvSpPr>
        <p:spPr>
          <a:xfrm>
            <a:off x="2660904" y="2066544"/>
            <a:ext cx="1792224" cy="1993392"/>
          </a:xfrm>
          <a:prstGeom prst="roundRect">
            <a:avLst>
              <a:gd name="adj" fmla="val 9184"/>
            </a:avLst>
          </a:prstGeom>
          <a:solidFill>
            <a:srgbClr val="F2F0E8"/>
          </a:solidFill>
          <a:ln w="10160">
            <a:solidFill>
              <a:srgbClr val="D8DCCF"/>
            </a:solidFill>
            <a:prstDash val="solid"/>
          </a:ln>
        </p:spPr>
      </p:sp>
      <p:sp>
        <p:nvSpPr>
          <p:cNvPr id="10" name="Text 8"/>
          <p:cNvSpPr txBox="1"/>
          <p:nvPr/>
        </p:nvSpPr>
        <p:spPr>
          <a:xfrm>
            <a:off x="2807208" y="2331720"/>
            <a:ext cx="1499616" cy="603504"/>
          </a:xfrm>
          <a:prstGeom prst="rect">
            <a:avLst/>
          </a:prstGeom>
          <a:noFill/>
          <a:ln/>
        </p:spPr>
        <p:txBody>
          <a:bodyPr wrap="square" lIns="0" tIns="0" rIns="0" bIns="0" rtlCol="0" anchor="ctr">
            <a:normAutofit/>
          </a:bodyPr>
          <a:lstStyle/>
          <a:p>
            <a:pPr algn="ctr" indent="0" marL="0">
              <a:buNone/>
            </a:pPr>
            <a:r>
              <a:rPr lang="en-US" sz="3800" b="1" dirty="0">
                <a:solidFill>
                  <a:srgbClr val="1E4A19"/>
                </a:solidFill>
                <a:latin typeface="Aptos" pitchFamily="34" charset="0"/>
                <a:ea typeface="Aptos" pitchFamily="34" charset="-122"/>
                <a:cs typeface="Aptos" pitchFamily="34" charset="-120"/>
              </a:rPr>
              <a:t>18</a:t>
            </a:r>
            <a:endParaRPr lang="en-US" sz="3800" dirty="0"/>
          </a:p>
        </p:txBody>
      </p:sp>
      <p:sp>
        <p:nvSpPr>
          <p:cNvPr id="11" name="Text 9"/>
          <p:cNvSpPr txBox="1"/>
          <p:nvPr/>
        </p:nvSpPr>
        <p:spPr>
          <a:xfrm>
            <a:off x="2807208" y="2990088"/>
            <a:ext cx="1499616" cy="292608"/>
          </a:xfrm>
          <a:prstGeom prst="rect">
            <a:avLst/>
          </a:prstGeom>
          <a:noFill/>
          <a:ln/>
        </p:spPr>
        <p:txBody>
          <a:bodyPr wrap="square" lIns="0" tIns="0" rIns="0" bIns="0" rtlCol="0" anchor="ctr">
            <a:normAutofit/>
          </a:bodyPr>
          <a:lstStyle/>
          <a:p>
            <a:pPr algn="ctr" indent="0" marL="0">
              <a:buNone/>
            </a:pPr>
            <a:r>
              <a:rPr lang="en-US" sz="1420" b="1" dirty="0">
                <a:solidFill>
                  <a:srgbClr val="171A16"/>
                </a:solidFill>
                <a:latin typeface="Aptos" pitchFamily="34" charset="0"/>
                <a:ea typeface="Aptos" pitchFamily="34" charset="-122"/>
                <a:cs typeface="Aptos" pitchFamily="34" charset="-120"/>
              </a:rPr>
              <a:t>real-browser checks</a:t>
            </a:r>
            <a:endParaRPr lang="en-US" sz="1420" dirty="0"/>
          </a:p>
        </p:txBody>
      </p:sp>
      <p:sp>
        <p:nvSpPr>
          <p:cNvPr id="12" name="Text 10"/>
          <p:cNvSpPr txBox="1"/>
          <p:nvPr/>
        </p:nvSpPr>
        <p:spPr>
          <a:xfrm>
            <a:off x="2807208" y="3383280"/>
            <a:ext cx="1499616" cy="246888"/>
          </a:xfrm>
          <a:prstGeom prst="rect">
            <a:avLst/>
          </a:prstGeom>
          <a:noFill/>
          <a:ln/>
        </p:spPr>
        <p:txBody>
          <a:bodyPr wrap="square" lIns="0" tIns="0" rIns="0" bIns="0" rtlCol="0" anchor="ctr">
            <a:normAutofit/>
          </a:bodyPr>
          <a:lstStyle/>
          <a:p>
            <a:pPr algn="ctr" indent="0" marL="0">
              <a:buNone/>
            </a:pPr>
            <a:r>
              <a:rPr lang="en-US" sz="1080" dirty="0">
                <a:solidFill>
                  <a:srgbClr val="667064"/>
                </a:solidFill>
                <a:latin typeface="Aptos" pitchFamily="34" charset="0"/>
                <a:ea typeface="Aptos" pitchFamily="34" charset="-122"/>
                <a:cs typeface="Aptos" pitchFamily="34" charset="-120"/>
              </a:rPr>
              <a:t>desktop + 390 px</a:t>
            </a:r>
            <a:endParaRPr lang="en-US" sz="1080" dirty="0"/>
          </a:p>
        </p:txBody>
      </p:sp>
      <p:sp>
        <p:nvSpPr>
          <p:cNvPr id="13" name="Shape 11"/>
          <p:cNvSpPr/>
          <p:nvPr/>
        </p:nvSpPr>
        <p:spPr>
          <a:xfrm>
            <a:off x="4700016" y="2066544"/>
            <a:ext cx="1792224" cy="1993392"/>
          </a:xfrm>
          <a:prstGeom prst="roundRect">
            <a:avLst>
              <a:gd name="adj" fmla="val 9184"/>
            </a:avLst>
          </a:prstGeom>
          <a:solidFill>
            <a:srgbClr val="1E4A19"/>
          </a:solidFill>
          <a:ln w="10160">
            <a:solidFill>
              <a:srgbClr val="1E4A19"/>
            </a:solidFill>
            <a:prstDash val="solid"/>
          </a:ln>
        </p:spPr>
      </p:sp>
      <p:sp>
        <p:nvSpPr>
          <p:cNvPr id="14" name="Text 12"/>
          <p:cNvSpPr txBox="1"/>
          <p:nvPr/>
        </p:nvSpPr>
        <p:spPr>
          <a:xfrm>
            <a:off x="4846320" y="2331720"/>
            <a:ext cx="1499616" cy="603504"/>
          </a:xfrm>
          <a:prstGeom prst="rect">
            <a:avLst/>
          </a:prstGeom>
          <a:noFill/>
          <a:ln/>
        </p:spPr>
        <p:txBody>
          <a:bodyPr wrap="square" lIns="0" tIns="0" rIns="0" bIns="0" rtlCol="0" anchor="ctr">
            <a:normAutofit/>
          </a:bodyPr>
          <a:lstStyle/>
          <a:p>
            <a:pPr algn="ctr" indent="0" marL="0">
              <a:buNone/>
            </a:pPr>
            <a:r>
              <a:rPr lang="en-US" sz="3800" b="1" dirty="0">
                <a:solidFill>
                  <a:srgbClr val="F4C72F"/>
                </a:solidFill>
                <a:latin typeface="Aptos" pitchFamily="34" charset="0"/>
                <a:ea typeface="Aptos" pitchFamily="34" charset="-122"/>
                <a:cs typeface="Aptos" pitchFamily="34" charset="-120"/>
              </a:rPr>
              <a:t>16</a:t>
            </a:r>
            <a:endParaRPr lang="en-US" sz="3800" dirty="0"/>
          </a:p>
        </p:txBody>
      </p:sp>
      <p:sp>
        <p:nvSpPr>
          <p:cNvPr id="15" name="Text 13"/>
          <p:cNvSpPr txBox="1"/>
          <p:nvPr/>
        </p:nvSpPr>
        <p:spPr>
          <a:xfrm>
            <a:off x="4846320" y="2990088"/>
            <a:ext cx="1499616" cy="292608"/>
          </a:xfrm>
          <a:prstGeom prst="rect">
            <a:avLst/>
          </a:prstGeom>
          <a:noFill/>
          <a:ln/>
        </p:spPr>
        <p:txBody>
          <a:bodyPr wrap="square" lIns="0" tIns="0" rIns="0" bIns="0" rtlCol="0" anchor="ctr">
            <a:normAutofit/>
          </a:bodyPr>
          <a:lstStyle/>
          <a:p>
            <a:pPr algn="ctr" indent="0" marL="0">
              <a:buNone/>
            </a:pPr>
            <a:r>
              <a:rPr lang="en-US" sz="1420" b="1" dirty="0">
                <a:solidFill>
                  <a:srgbClr val="FFFFFF"/>
                </a:solidFill>
                <a:latin typeface="Aptos" pitchFamily="34" charset="0"/>
                <a:ea typeface="Aptos" pitchFamily="34" charset="-122"/>
                <a:cs typeface="Aptos" pitchFamily="34" charset="-120"/>
              </a:rPr>
              <a:t>demo-gate stages</a:t>
            </a:r>
            <a:endParaRPr lang="en-US" sz="1420" dirty="0"/>
          </a:p>
        </p:txBody>
      </p:sp>
      <p:sp>
        <p:nvSpPr>
          <p:cNvPr id="16" name="Text 14"/>
          <p:cNvSpPr txBox="1"/>
          <p:nvPr/>
        </p:nvSpPr>
        <p:spPr>
          <a:xfrm>
            <a:off x="4846320" y="3383280"/>
            <a:ext cx="1499616" cy="246888"/>
          </a:xfrm>
          <a:prstGeom prst="rect">
            <a:avLst/>
          </a:prstGeom>
          <a:noFill/>
          <a:ln/>
        </p:spPr>
        <p:txBody>
          <a:bodyPr wrap="square" lIns="0" tIns="0" rIns="0" bIns="0" rtlCol="0" anchor="ctr">
            <a:normAutofit/>
          </a:bodyPr>
          <a:lstStyle/>
          <a:p>
            <a:pPr algn="ctr" indent="0" marL="0">
              <a:buNone/>
            </a:pPr>
            <a:r>
              <a:rPr lang="en-US" sz="1080" dirty="0">
                <a:solidFill>
                  <a:srgbClr val="D5E7D0"/>
                </a:solidFill>
                <a:latin typeface="Aptos" pitchFamily="34" charset="0"/>
                <a:ea typeface="Aptos" pitchFamily="34" charset="-122"/>
                <a:cs typeface="Aptos" pitchFamily="34" charset="-120"/>
              </a:rPr>
              <a:t>zero console errors</a:t>
            </a:r>
            <a:endParaRPr lang="en-US" sz="1080" dirty="0"/>
          </a:p>
        </p:txBody>
      </p:sp>
      <p:sp>
        <p:nvSpPr>
          <p:cNvPr id="17" name="Shape 15"/>
          <p:cNvSpPr/>
          <p:nvPr/>
        </p:nvSpPr>
        <p:spPr>
          <a:xfrm>
            <a:off x="6976872" y="2066544"/>
            <a:ext cx="4572000" cy="3456432"/>
          </a:xfrm>
          <a:prstGeom prst="roundRect">
            <a:avLst>
              <a:gd name="adj" fmla="val 4762"/>
            </a:avLst>
          </a:prstGeom>
          <a:solidFill>
            <a:srgbClr val="DDF1F6"/>
          </a:solidFill>
          <a:ln w="10160">
            <a:solidFill>
              <a:srgbClr val="1984A6"/>
            </a:solidFill>
            <a:prstDash val="solid"/>
          </a:ln>
        </p:spPr>
      </p:sp>
      <p:sp>
        <p:nvSpPr>
          <p:cNvPr id="18" name="Text 16"/>
          <p:cNvSpPr txBox="1"/>
          <p:nvPr/>
        </p:nvSpPr>
        <p:spPr>
          <a:xfrm>
            <a:off x="7296912" y="2340864"/>
            <a:ext cx="2395728" cy="219456"/>
          </a:xfrm>
          <a:prstGeom prst="rect">
            <a:avLst/>
          </a:prstGeom>
          <a:noFill/>
          <a:ln/>
        </p:spPr>
        <p:txBody>
          <a:bodyPr wrap="square" lIns="0" tIns="0" rIns="0" bIns="0" rtlCol="0" anchor="ctr">
            <a:normAutofit/>
          </a:bodyPr>
          <a:lstStyle/>
          <a:p>
            <a:pPr algn="l" indent="0" marL="0">
              <a:buNone/>
            </a:pPr>
            <a:r>
              <a:rPr lang="en-US" sz="1050" b="1" spc="150" kern="0" dirty="0">
                <a:solidFill>
                  <a:srgbClr val="1984A6"/>
                </a:solidFill>
                <a:latin typeface="Aptos" pitchFamily="34" charset="0"/>
                <a:ea typeface="Aptos" pitchFamily="34" charset="-122"/>
                <a:cs typeface="Aptos" pitchFamily="34" charset="-120"/>
              </a:rPr>
              <a:t>AI SPEND CONTROL</a:t>
            </a:r>
            <a:endParaRPr lang="en-US" sz="1050" dirty="0"/>
          </a:p>
        </p:txBody>
      </p:sp>
      <p:sp>
        <p:nvSpPr>
          <p:cNvPr id="19" name="Text 17"/>
          <p:cNvSpPr txBox="1"/>
          <p:nvPr/>
        </p:nvSpPr>
        <p:spPr>
          <a:xfrm>
            <a:off x="7278624" y="2697480"/>
            <a:ext cx="2615184" cy="566928"/>
          </a:xfrm>
          <a:prstGeom prst="rect">
            <a:avLst/>
          </a:prstGeom>
          <a:noFill/>
          <a:ln/>
        </p:spPr>
        <p:txBody>
          <a:bodyPr wrap="square" lIns="0" tIns="0" rIns="0" bIns="0" rtlCol="0" anchor="ctr">
            <a:normAutofit/>
          </a:bodyPr>
          <a:lstStyle/>
          <a:p>
            <a:pPr algn="l" indent="0" marL="0">
              <a:buNone/>
            </a:pPr>
            <a:r>
              <a:rPr lang="en-US" sz="3400" b="1" dirty="0">
                <a:solidFill>
                  <a:srgbClr val="171A16"/>
                </a:solidFill>
                <a:latin typeface="Aptos" pitchFamily="34" charset="0"/>
                <a:ea typeface="Aptos" pitchFamily="34" charset="-122"/>
                <a:cs typeface="Aptos" pitchFamily="34" charset="-120"/>
              </a:rPr>
              <a:t>$5 hard cap</a:t>
            </a:r>
            <a:endParaRPr lang="en-US" sz="3400" dirty="0"/>
          </a:p>
        </p:txBody>
      </p:sp>
      <p:sp>
        <p:nvSpPr>
          <p:cNvPr id="20" name="Text 18"/>
          <p:cNvSpPr txBox="1"/>
          <p:nvPr/>
        </p:nvSpPr>
        <p:spPr>
          <a:xfrm>
            <a:off x="7296912" y="3264408"/>
            <a:ext cx="3749040" cy="292608"/>
          </a:xfrm>
          <a:prstGeom prst="rect">
            <a:avLst/>
          </a:prstGeom>
          <a:noFill/>
          <a:ln/>
        </p:spPr>
        <p:txBody>
          <a:bodyPr wrap="square" lIns="0" tIns="0" rIns="0" bIns="0" rtlCol="0" anchor="ctr">
            <a:normAutofit/>
          </a:bodyPr>
          <a:lstStyle/>
          <a:p>
            <a:pPr algn="l" indent="0" marL="0">
              <a:buNone/>
            </a:pPr>
            <a:r>
              <a:rPr lang="en-US" sz="1350" dirty="0">
                <a:solidFill>
                  <a:srgbClr val="667064"/>
                </a:solidFill>
                <a:latin typeface="Aptos" pitchFamily="34" charset="0"/>
                <a:ea typeface="Aptos" pitchFamily="34" charset="-122"/>
                <a:cs typeface="Aptos" pitchFamily="34" charset="-120"/>
              </a:rPr>
              <a:t>no auto-refresh · alerts at 50 / 75 / 100%</a:t>
            </a:r>
            <a:endParaRPr lang="en-US" sz="1350" dirty="0"/>
          </a:p>
        </p:txBody>
      </p:sp>
      <p:sp>
        <p:nvSpPr>
          <p:cNvPr id="21" name="Shape 19"/>
          <p:cNvSpPr/>
          <p:nvPr/>
        </p:nvSpPr>
        <p:spPr>
          <a:xfrm>
            <a:off x="7296912" y="3730752"/>
            <a:ext cx="3749040" cy="0"/>
          </a:xfrm>
          <a:prstGeom prst="line">
            <a:avLst/>
          </a:prstGeom>
          <a:noFill/>
          <a:ln w="12700">
            <a:solidFill>
              <a:srgbClr val="A8D1DC"/>
            </a:solidFill>
            <a:prstDash val="solid"/>
          </a:ln>
        </p:spPr>
      </p:sp>
      <p:sp>
        <p:nvSpPr>
          <p:cNvPr id="22" name="Text 20"/>
          <p:cNvSpPr txBox="1"/>
          <p:nvPr/>
        </p:nvSpPr>
        <p:spPr>
          <a:xfrm>
            <a:off x="7296912" y="3950208"/>
            <a:ext cx="2157984" cy="384048"/>
          </a:xfrm>
          <a:prstGeom prst="rect">
            <a:avLst/>
          </a:prstGeom>
          <a:noFill/>
          <a:ln/>
        </p:spPr>
        <p:txBody>
          <a:bodyPr wrap="square" lIns="0" tIns="0" rIns="0" bIns="0" rtlCol="0" anchor="ctr">
            <a:normAutofit/>
          </a:bodyPr>
          <a:lstStyle/>
          <a:p>
            <a:pPr algn="l" indent="0" marL="0">
              <a:buNone/>
            </a:pPr>
            <a:r>
              <a:rPr lang="en-US" sz="2200" b="1" dirty="0">
                <a:solidFill>
                  <a:srgbClr val="1E4A19"/>
                </a:solidFill>
                <a:latin typeface="Aptos" pitchFamily="34" charset="0"/>
                <a:ea typeface="Aptos" pitchFamily="34" charset="-122"/>
                <a:cs typeface="Aptos" pitchFamily="34" charset="-120"/>
              </a:rPr>
              <a:t>$0.0027–$0.006</a:t>
            </a:r>
            <a:endParaRPr lang="en-US" sz="2200" dirty="0"/>
          </a:p>
        </p:txBody>
      </p:sp>
      <p:sp>
        <p:nvSpPr>
          <p:cNvPr id="23" name="Text 21"/>
          <p:cNvSpPr txBox="1"/>
          <p:nvPr/>
        </p:nvSpPr>
        <p:spPr>
          <a:xfrm>
            <a:off x="9491472" y="3977640"/>
            <a:ext cx="1600200" cy="320040"/>
          </a:xfrm>
          <a:prstGeom prst="rect">
            <a:avLst/>
          </a:prstGeom>
          <a:noFill/>
          <a:ln/>
        </p:spPr>
        <p:txBody>
          <a:bodyPr wrap="square" lIns="0" tIns="0" rIns="0" bIns="0" rtlCol="0" anchor="ctr">
            <a:normAutofit/>
          </a:bodyPr>
          <a:lstStyle/>
          <a:p>
            <a:pPr algn="l" indent="0" marL="0">
              <a:buNone/>
            </a:pPr>
            <a:r>
              <a:rPr lang="en-US" sz="1200" dirty="0">
                <a:solidFill>
                  <a:srgbClr val="667064"/>
                </a:solidFill>
                <a:latin typeface="Aptos" pitchFamily="34" charset="0"/>
                <a:ea typeface="Aptos" pitchFamily="34" charset="-122"/>
                <a:cs typeface="Aptos" pitchFamily="34" charset="-120"/>
              </a:rPr>
              <a:t>estimated per semantic analysis</a:t>
            </a:r>
            <a:endParaRPr lang="en-US" sz="1200" dirty="0"/>
          </a:p>
        </p:txBody>
      </p:sp>
      <p:sp>
        <p:nvSpPr>
          <p:cNvPr id="24" name="Text 22"/>
          <p:cNvSpPr txBox="1"/>
          <p:nvPr/>
        </p:nvSpPr>
        <p:spPr>
          <a:xfrm>
            <a:off x="7296912" y="4498848"/>
            <a:ext cx="3200400" cy="310896"/>
          </a:xfrm>
          <a:prstGeom prst="rect">
            <a:avLst/>
          </a:prstGeom>
          <a:noFill/>
          <a:ln/>
        </p:spPr>
        <p:txBody>
          <a:bodyPr wrap="square" lIns="0" tIns="0" rIns="0" bIns="0" rtlCol="0" anchor="ctr">
            <a:normAutofit/>
          </a:bodyPr>
          <a:lstStyle/>
          <a:p>
            <a:pPr algn="l" indent="0" marL="0">
              <a:buNone/>
            </a:pPr>
            <a:r>
              <a:rPr lang="en-US" sz="1500" b="1" dirty="0">
                <a:solidFill>
                  <a:srgbClr val="171A16"/>
                </a:solidFill>
                <a:latin typeface="Aptos" pitchFamily="34" charset="0"/>
                <a:ea typeface="Aptos" pitchFamily="34" charset="-122"/>
                <a:cs typeface="Aptos" pitchFamily="34" charset="-120"/>
              </a:rPr>
              <a:t>≈ 1,250 typical analyses within the cap</a:t>
            </a:r>
            <a:endParaRPr lang="en-US" sz="1500" dirty="0"/>
          </a:p>
        </p:txBody>
      </p:sp>
      <p:sp>
        <p:nvSpPr>
          <p:cNvPr id="25" name="Text 23"/>
          <p:cNvSpPr txBox="1"/>
          <p:nvPr/>
        </p:nvSpPr>
        <p:spPr>
          <a:xfrm>
            <a:off x="7296912" y="4928616"/>
            <a:ext cx="3822192" cy="329184"/>
          </a:xfrm>
          <a:prstGeom prst="rect">
            <a:avLst/>
          </a:prstGeom>
          <a:noFill/>
          <a:ln/>
        </p:spPr>
        <p:txBody>
          <a:bodyPr wrap="square" lIns="0" tIns="0" rIns="0" bIns="0" rtlCol="0" anchor="ctr">
            <a:normAutofit/>
          </a:bodyPr>
          <a:lstStyle/>
          <a:p>
            <a:pPr algn="l" indent="0" marL="0">
              <a:buNone/>
            </a:pPr>
            <a:r>
              <a:rPr lang="en-US" sz="1280" dirty="0">
                <a:solidFill>
                  <a:srgbClr val="667064"/>
                </a:solidFill>
                <a:latin typeface="Aptos" pitchFamily="34" charset="0"/>
                <a:ea typeface="Aptos" pitchFamily="34" charset="-122"/>
                <a:cs typeface="Aptos" pitchFamily="34" charset="-120"/>
              </a:rPr>
              <a:t>Identical semantic requests replay from cache at $0 model cost.</a:t>
            </a:r>
            <a:endParaRPr lang="en-US" sz="1280" dirty="0"/>
          </a:p>
        </p:txBody>
      </p:sp>
      <p:sp>
        <p:nvSpPr>
          <p:cNvPr id="26" name="Shape 24"/>
          <p:cNvSpPr/>
          <p:nvPr/>
        </p:nvSpPr>
        <p:spPr>
          <a:xfrm>
            <a:off x="640080" y="4864608"/>
            <a:ext cx="2880360" cy="457200"/>
          </a:xfrm>
          <a:prstGeom prst="roundRect">
            <a:avLst>
              <a:gd name="adj" fmla="val 36000"/>
            </a:avLst>
          </a:prstGeom>
          <a:solidFill>
            <a:srgbClr val="F4C72F"/>
          </a:solidFill>
          <a:ln w="10160">
            <a:solidFill>
              <a:srgbClr val="F4C72F"/>
            </a:solidFill>
            <a:prstDash val="solid"/>
          </a:ln>
        </p:spPr>
      </p:sp>
      <p:sp>
        <p:nvSpPr>
          <p:cNvPr id="27" name="Text 25"/>
          <p:cNvSpPr txBox="1"/>
          <p:nvPr/>
        </p:nvSpPr>
        <p:spPr>
          <a:xfrm>
            <a:off x="804672" y="4919472"/>
            <a:ext cx="2551176" cy="347472"/>
          </a:xfrm>
          <a:prstGeom prst="rect">
            <a:avLst/>
          </a:prstGeom>
          <a:noFill/>
          <a:ln/>
        </p:spPr>
        <p:txBody>
          <a:bodyPr wrap="square" lIns="0" tIns="0" rIns="0" bIns="0" rtlCol="0" anchor="ctr">
            <a:normAutofit/>
          </a:bodyPr>
          <a:lstStyle/>
          <a:p>
            <a:pPr algn="ctr" indent="0" marL="0">
              <a:buNone/>
            </a:pPr>
            <a:r>
              <a:rPr lang="en-US" sz="1300" b="1" u="sng" dirty="0">
                <a:solidFill>
                  <a:srgbClr val="171A16"/>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talk-active-id.vercel.app ↗</a:t>
            </a:r>
            <a:endParaRPr lang="en-US" sz="1300" dirty="0"/>
          </a:p>
        </p:txBody>
      </p:sp>
      <p:sp>
        <p:nvSpPr>
          <p:cNvPr id="28" name="Text 26"/>
          <p:cNvSpPr txBox="1"/>
          <p:nvPr/>
        </p:nvSpPr>
        <p:spPr>
          <a:xfrm>
            <a:off x="3749040" y="4919472"/>
            <a:ext cx="2788920" cy="512064"/>
          </a:xfrm>
          <a:prstGeom prst="rect">
            <a:avLst/>
          </a:prstGeom>
          <a:noFill/>
          <a:ln/>
        </p:spPr>
        <p:txBody>
          <a:bodyPr wrap="square" lIns="0" tIns="0" rIns="0" bIns="0" rtlCol="0" anchor="t">
            <a:normAutofit/>
          </a:bodyPr>
          <a:lstStyle/>
          <a:p>
            <a:pPr algn="l" indent="0" marL="0">
              <a:buNone/>
            </a:pPr>
            <a:r>
              <a:rPr lang="en-US" sz="1230" dirty="0">
                <a:solidFill>
                  <a:srgbClr val="667064"/>
                </a:solidFill>
                <a:latin typeface="Aptos" pitchFamily="34" charset="0"/>
                <a:ea typeface="Aptos" pitchFamily="34" charset="-122"/>
                <a:cs typeface="Aptos" pitchFamily="34" charset="-120"/>
              </a:rPr>
              <a:t>Public production · API key server-side · per-client rate limit · offline fallback</a:t>
            </a:r>
            <a:endParaRPr lang="en-US" sz="1230" dirty="0"/>
          </a:p>
        </p:txBody>
      </p:sp>
      <p:sp>
        <p:nvSpPr>
          <p:cNvPr id="29" name="Text 27"/>
          <p:cNvSpPr/>
          <p:nvPr/>
        </p:nvSpPr>
        <p:spPr>
          <a:xfrm>
            <a:off x="621792" y="6217920"/>
            <a:ext cx="10881360" cy="164592"/>
          </a:xfrm>
          <a:prstGeom prst="rect">
            <a:avLst/>
          </a:prstGeom>
          <a:noFill/>
          <a:ln/>
        </p:spPr>
        <p:txBody>
          <a:bodyPr wrap="square" lIns="0" tIns="0" rIns="0" bIns="0" rtlCol="0" anchor="ctr">
            <a:normAutofit/>
          </a:bodyPr>
          <a:lstStyle/>
          <a:p>
            <a:pPr algn="l" indent="0" marL="0">
              <a:buNone/>
            </a:pPr>
            <a:r>
              <a:rPr lang="en-US" sz="820" i="1" dirty="0">
                <a:solidFill>
                  <a:srgbClr val="667064"/>
                </a:solidFill>
                <a:latin typeface="Aptos" pitchFamily="34" charset="0"/>
                <a:ea typeface="Aptos" pitchFamily="34" charset="-122"/>
                <a:cs typeface="Aptos" pitchFamily="34" charset="-120"/>
              </a:rPr>
              <a:t>Internal evidence: pnpm check and production verification, 12 Aug 2026. Cost is a token-based planning estimate; actual vendor billing varies.</a:t>
            </a:r>
            <a:endParaRPr lang="en-US" sz="820" dirty="0"/>
          </a:p>
        </p:txBody>
      </p:sp>
      <p:sp>
        <p:nvSpPr>
          <p:cNvPr id="25" name="Slide Number Placeholder 0"/>
          <p:cNvSpPr>
            <a:spLocks noGrp="1"/>
          </p:cNvSpPr>
          <p:nvPr>
            <p:ph type="sldNum" sz="quarter" idx="4294967295"/>
          </p:nvPr>
        </p:nvSpPr>
        <p:spPr>
          <a:xfrm>
            <a:off x="11283696" y="6528816"/>
            <a:ext cx="36576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06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4A19"/>
        </a:solidFill>
      </p:bgPr>
    </p:bg>
    <p:spTree>
      <p:nvGrpSpPr>
        <p:cNvPr id="1" name=""/>
        <p:cNvGrpSpPr/>
        <p:nvPr/>
      </p:nvGrpSpPr>
      <p:grpSpPr>
        <a:xfrm>
          <a:off x="0" y="0"/>
          <a:ext cx="0" cy="0"/>
          <a:chOff x="0" y="0"/>
          <a:chExt cx="0" cy="0"/>
        </a:xfrm>
      </p:grpSpPr>
      <p:sp>
        <p:nvSpPr>
          <p:cNvPr id="2" name="Text 0"/>
          <p:cNvSpPr txBox="1"/>
          <p:nvPr/>
        </p:nvSpPr>
        <p:spPr>
          <a:xfrm>
            <a:off x="658368" y="493776"/>
            <a:ext cx="2926080" cy="237744"/>
          </a:xfrm>
          <a:prstGeom prst="rect">
            <a:avLst/>
          </a:prstGeom>
          <a:noFill/>
          <a:ln/>
        </p:spPr>
        <p:txBody>
          <a:bodyPr wrap="square" lIns="0" tIns="0" rIns="0" bIns="0" rtlCol="0" anchor="ctr">
            <a:normAutofit/>
          </a:bodyPr>
          <a:lstStyle/>
          <a:p>
            <a:pPr algn="l" indent="0" marL="0">
              <a:buNone/>
            </a:pPr>
            <a:r>
              <a:rPr lang="en-US" sz="1050" b="1" spc="170" kern="0" dirty="0">
                <a:solidFill>
                  <a:srgbClr val="F4C72F"/>
                </a:solidFill>
                <a:latin typeface="Aptos" pitchFamily="34" charset="0"/>
                <a:ea typeface="Aptos" pitchFamily="34" charset="-122"/>
                <a:cs typeface="Aptos" pitchFamily="34" charset="-120"/>
              </a:rPr>
              <a:t>BOUNDARY + ROADMAP</a:t>
            </a:r>
            <a:endParaRPr lang="en-US" sz="1050" dirty="0"/>
          </a:p>
        </p:txBody>
      </p:sp>
      <p:sp>
        <p:nvSpPr>
          <p:cNvPr id="3" name="Text 1"/>
          <p:cNvSpPr txBox="1"/>
          <p:nvPr/>
        </p:nvSpPr>
        <p:spPr>
          <a:xfrm>
            <a:off x="621792" y="914400"/>
            <a:ext cx="7909560" cy="621792"/>
          </a:xfrm>
          <a:prstGeom prst="rect">
            <a:avLst/>
          </a:prstGeom>
          <a:noFill/>
          <a:ln/>
        </p:spPr>
        <p:txBody>
          <a:bodyPr wrap="square" lIns="0" tIns="0" rIns="0" bIns="0" rtlCol="0" anchor="ctr">
            <a:normAutofit/>
          </a:bodyPr>
          <a:lstStyle/>
          <a:p>
            <a:pPr algn="l" indent="0" marL="0">
              <a:buNone/>
            </a:pPr>
            <a:r>
              <a:rPr lang="en-US" sz="3900" b="1" dirty="0">
                <a:solidFill>
                  <a:srgbClr val="FFFFFF"/>
                </a:solidFill>
                <a:latin typeface="Aptos Display" pitchFamily="34" charset="0"/>
                <a:ea typeface="Aptos Display" pitchFamily="34" charset="-122"/>
                <a:cs typeface="Aptos Display" pitchFamily="34" charset="-120"/>
              </a:rPr>
              <a:t>Today, we prove the evidence loop.</a:t>
            </a:r>
            <a:endParaRPr lang="en-US" sz="3900" dirty="0"/>
          </a:p>
        </p:txBody>
      </p:sp>
      <p:sp>
        <p:nvSpPr>
          <p:cNvPr id="4" name="Text 2"/>
          <p:cNvSpPr txBox="1"/>
          <p:nvPr/>
        </p:nvSpPr>
        <p:spPr>
          <a:xfrm>
            <a:off x="658368" y="1536192"/>
            <a:ext cx="7132320" cy="402336"/>
          </a:xfrm>
          <a:prstGeom prst="rect">
            <a:avLst/>
          </a:prstGeom>
          <a:noFill/>
          <a:ln/>
        </p:spPr>
        <p:txBody>
          <a:bodyPr wrap="square" lIns="0" tIns="0" rIns="0" bIns="0" rtlCol="0" anchor="ctr">
            <a:normAutofit/>
          </a:bodyPr>
          <a:lstStyle/>
          <a:p>
            <a:pPr algn="l" indent="0" marL="0">
              <a:buNone/>
            </a:pPr>
            <a:r>
              <a:rPr lang="en-US" sz="2400" dirty="0">
                <a:solidFill>
                  <a:srgbClr val="D7E9D2"/>
                </a:solidFill>
                <a:latin typeface="Georgia" pitchFamily="34" charset="0"/>
                <a:ea typeface="Georgia" pitchFamily="34" charset="-122"/>
                <a:cs typeface="Georgia" pitchFamily="34" charset="-120"/>
              </a:rPr>
              <a:t>Next, we earn the right to scale it.</a:t>
            </a:r>
            <a:endParaRPr lang="en-US" sz="2400" dirty="0"/>
          </a:p>
        </p:txBody>
      </p:sp>
      <p:sp>
        <p:nvSpPr>
          <p:cNvPr id="5" name="Shape 3"/>
          <p:cNvSpPr/>
          <p:nvPr/>
        </p:nvSpPr>
        <p:spPr>
          <a:xfrm>
            <a:off x="658368" y="2322576"/>
            <a:ext cx="5010912" cy="2670048"/>
          </a:xfrm>
          <a:prstGeom prst="roundRect">
            <a:avLst>
              <a:gd name="adj" fmla="val 6164"/>
            </a:avLst>
          </a:prstGeom>
          <a:solidFill>
            <a:srgbClr val="2F6A25"/>
          </a:solidFill>
          <a:ln w="10160">
            <a:solidFill>
              <a:srgbClr val="2F6A25"/>
            </a:solidFill>
            <a:prstDash val="solid"/>
          </a:ln>
        </p:spPr>
      </p:sp>
      <p:sp>
        <p:nvSpPr>
          <p:cNvPr id="6" name="Shape 4"/>
          <p:cNvSpPr/>
          <p:nvPr/>
        </p:nvSpPr>
        <p:spPr>
          <a:xfrm>
            <a:off x="5989320" y="2322576"/>
            <a:ext cx="5010912" cy="2670048"/>
          </a:xfrm>
          <a:prstGeom prst="roundRect">
            <a:avLst>
              <a:gd name="adj" fmla="val 6164"/>
            </a:avLst>
          </a:prstGeom>
          <a:solidFill>
            <a:srgbClr val="FFFFFF"/>
          </a:solidFill>
          <a:ln w="10160">
            <a:solidFill>
              <a:srgbClr val="FFFFFF"/>
            </a:solidFill>
            <a:prstDash val="solid"/>
          </a:ln>
        </p:spPr>
      </p:sp>
      <p:sp>
        <p:nvSpPr>
          <p:cNvPr id="7" name="Text 5"/>
          <p:cNvSpPr txBox="1"/>
          <p:nvPr/>
        </p:nvSpPr>
        <p:spPr>
          <a:xfrm>
            <a:off x="914400" y="2596896"/>
            <a:ext cx="1920240" cy="219456"/>
          </a:xfrm>
          <a:prstGeom prst="rect">
            <a:avLst/>
          </a:prstGeom>
          <a:noFill/>
          <a:ln/>
        </p:spPr>
        <p:txBody>
          <a:bodyPr wrap="square" lIns="0" tIns="0" rIns="0" bIns="0" rtlCol="0" anchor="ctr">
            <a:normAutofit/>
          </a:bodyPr>
          <a:lstStyle/>
          <a:p>
            <a:pPr algn="l" indent="0" marL="0">
              <a:buNone/>
            </a:pPr>
            <a:r>
              <a:rPr lang="en-US" sz="1050" b="1" spc="140" kern="0" dirty="0">
                <a:solidFill>
                  <a:srgbClr val="F4C72F"/>
                </a:solidFill>
                <a:latin typeface="Aptos" pitchFamily="34" charset="0"/>
                <a:ea typeface="Aptos" pitchFamily="34" charset="-122"/>
                <a:cs typeface="Aptos" pitchFamily="34" charset="-120"/>
              </a:rPr>
              <a:t>SHIPPED NOW</a:t>
            </a:r>
            <a:endParaRPr lang="en-US" sz="1050" dirty="0"/>
          </a:p>
        </p:txBody>
      </p:sp>
      <p:sp>
        <p:nvSpPr>
          <p:cNvPr id="8" name="Text 6"/>
          <p:cNvSpPr txBox="1"/>
          <p:nvPr/>
        </p:nvSpPr>
        <p:spPr>
          <a:xfrm>
            <a:off x="6254496" y="2596896"/>
            <a:ext cx="2103120" cy="219456"/>
          </a:xfrm>
          <a:prstGeom prst="rect">
            <a:avLst/>
          </a:prstGeom>
          <a:noFill/>
          <a:ln/>
        </p:spPr>
        <p:txBody>
          <a:bodyPr wrap="square" lIns="0" tIns="0" rIns="0" bIns="0" rtlCol="0" anchor="ctr">
            <a:normAutofit/>
          </a:bodyPr>
          <a:lstStyle/>
          <a:p>
            <a:pPr algn="l" indent="0" marL="0">
              <a:buNone/>
            </a:pPr>
            <a:r>
              <a:rPr lang="en-US" sz="1050" b="1" spc="140" kern="0" dirty="0">
                <a:solidFill>
                  <a:srgbClr val="2F6A25"/>
                </a:solidFill>
                <a:latin typeface="Aptos" pitchFamily="34" charset="0"/>
                <a:ea typeface="Aptos" pitchFamily="34" charset="-122"/>
                <a:cs typeface="Aptos" pitchFamily="34" charset="-120"/>
              </a:rPr>
              <a:t>POST-HACKATHON</a:t>
            </a:r>
            <a:endParaRPr lang="en-US" sz="1050" dirty="0"/>
          </a:p>
        </p:txBody>
      </p:sp>
      <p:sp>
        <p:nvSpPr>
          <p:cNvPr id="9" name="Text 7"/>
          <p:cNvSpPr txBox="1"/>
          <p:nvPr/>
        </p:nvSpPr>
        <p:spPr>
          <a:xfrm>
            <a:off x="914400" y="3026664"/>
            <a:ext cx="256032" cy="219456"/>
          </a:xfrm>
          <a:prstGeom prst="rect">
            <a:avLst/>
          </a:prstGeom>
          <a:noFill/>
          <a:ln/>
        </p:spPr>
        <p:txBody>
          <a:bodyPr wrap="square" lIns="0" tIns="0" rIns="0" bIns="0" rtlCol="0" anchor="ctr">
            <a:normAutofit/>
          </a:bodyPr>
          <a:lstStyle/>
          <a:p>
            <a:pPr algn="ctr" indent="0" marL="0">
              <a:buNone/>
            </a:pPr>
            <a:r>
              <a:rPr lang="en-US" sz="1500" b="1" dirty="0">
                <a:solidFill>
                  <a:srgbClr val="F4C72F"/>
                </a:solidFill>
                <a:latin typeface="Aptos" pitchFamily="34" charset="0"/>
                <a:ea typeface="Aptos" pitchFamily="34" charset="-122"/>
                <a:cs typeface="Aptos" pitchFamily="34" charset="-120"/>
              </a:rPr>
              <a:t>✓</a:t>
            </a:r>
            <a:endParaRPr lang="en-US" sz="1500" dirty="0"/>
          </a:p>
        </p:txBody>
      </p:sp>
      <p:sp>
        <p:nvSpPr>
          <p:cNvPr id="10" name="Text 8"/>
          <p:cNvSpPr txBox="1"/>
          <p:nvPr/>
        </p:nvSpPr>
        <p:spPr>
          <a:xfrm>
            <a:off x="1298448" y="3008376"/>
            <a:ext cx="3877056" cy="256032"/>
          </a:xfrm>
          <a:prstGeom prst="rect">
            <a:avLst/>
          </a:prstGeom>
          <a:noFill/>
          <a:ln/>
        </p:spPr>
        <p:txBody>
          <a:bodyPr wrap="square" lIns="0" tIns="0" rIns="0" bIns="0" rtlCol="0" anchor="ctr">
            <a:normAutofit/>
          </a:bodyPr>
          <a:lstStyle/>
          <a:p>
            <a:pPr algn="l" indent="0" marL="0">
              <a:buNone/>
            </a:pPr>
            <a:r>
              <a:rPr lang="en-US" sz="1420" dirty="0">
                <a:solidFill>
                  <a:srgbClr val="FFFFFF"/>
                </a:solidFill>
                <a:latin typeface="Aptos" pitchFamily="34" charset="0"/>
                <a:ea typeface="Aptos" pitchFamily="34" charset="-122"/>
                <a:cs typeface="Aptos" pitchFamily="34" charset="-120"/>
              </a:rPr>
              <a:t>Public-rubric projects</a:t>
            </a:r>
            <a:endParaRPr lang="en-US" sz="1420" dirty="0"/>
          </a:p>
        </p:txBody>
      </p:sp>
      <p:sp>
        <p:nvSpPr>
          <p:cNvPr id="11" name="Text 9"/>
          <p:cNvSpPr txBox="1"/>
          <p:nvPr/>
        </p:nvSpPr>
        <p:spPr>
          <a:xfrm>
            <a:off x="914400" y="3456432"/>
            <a:ext cx="256032" cy="219456"/>
          </a:xfrm>
          <a:prstGeom prst="rect">
            <a:avLst/>
          </a:prstGeom>
          <a:noFill/>
          <a:ln/>
        </p:spPr>
        <p:txBody>
          <a:bodyPr wrap="square" lIns="0" tIns="0" rIns="0" bIns="0" rtlCol="0" anchor="ctr">
            <a:normAutofit/>
          </a:bodyPr>
          <a:lstStyle/>
          <a:p>
            <a:pPr algn="ctr" indent="0" marL="0">
              <a:buNone/>
            </a:pPr>
            <a:r>
              <a:rPr lang="en-US" sz="1500" b="1" dirty="0">
                <a:solidFill>
                  <a:srgbClr val="F4C72F"/>
                </a:solidFill>
                <a:latin typeface="Aptos" pitchFamily="34" charset="0"/>
                <a:ea typeface="Aptos" pitchFamily="34" charset="-122"/>
                <a:cs typeface="Aptos" pitchFamily="34" charset="-120"/>
              </a:rPr>
              <a:t>✓</a:t>
            </a:r>
            <a:endParaRPr lang="en-US" sz="1500" dirty="0"/>
          </a:p>
        </p:txBody>
      </p:sp>
      <p:sp>
        <p:nvSpPr>
          <p:cNvPr id="12" name="Text 10"/>
          <p:cNvSpPr txBox="1"/>
          <p:nvPr/>
        </p:nvSpPr>
        <p:spPr>
          <a:xfrm>
            <a:off x="1298448" y="3438144"/>
            <a:ext cx="3877056" cy="256032"/>
          </a:xfrm>
          <a:prstGeom prst="rect">
            <a:avLst/>
          </a:prstGeom>
          <a:noFill/>
          <a:ln/>
        </p:spPr>
        <p:txBody>
          <a:bodyPr wrap="square" lIns="0" tIns="0" rIns="0" bIns="0" rtlCol="0" anchor="ctr">
            <a:normAutofit/>
          </a:bodyPr>
          <a:lstStyle/>
          <a:p>
            <a:pPr algn="l" indent="0" marL="0">
              <a:buNone/>
            </a:pPr>
            <a:r>
              <a:rPr lang="en-US" sz="1420" dirty="0">
                <a:solidFill>
                  <a:srgbClr val="FFFFFF"/>
                </a:solidFill>
                <a:latin typeface="Aptos" pitchFamily="34" charset="0"/>
                <a:ea typeface="Aptos" pitchFamily="34" charset="-122"/>
                <a:cs typeface="Aptos" pitchFamily="34" charset="-120"/>
              </a:rPr>
              <a:t>Pasted or dictated attempts</a:t>
            </a:r>
            <a:endParaRPr lang="en-US" sz="1420" dirty="0"/>
          </a:p>
        </p:txBody>
      </p:sp>
      <p:sp>
        <p:nvSpPr>
          <p:cNvPr id="13" name="Text 11"/>
          <p:cNvSpPr txBox="1"/>
          <p:nvPr/>
        </p:nvSpPr>
        <p:spPr>
          <a:xfrm>
            <a:off x="914400" y="3886200"/>
            <a:ext cx="256032" cy="219456"/>
          </a:xfrm>
          <a:prstGeom prst="rect">
            <a:avLst/>
          </a:prstGeom>
          <a:noFill/>
          <a:ln/>
        </p:spPr>
        <p:txBody>
          <a:bodyPr wrap="square" lIns="0" tIns="0" rIns="0" bIns="0" rtlCol="0" anchor="ctr">
            <a:normAutofit/>
          </a:bodyPr>
          <a:lstStyle/>
          <a:p>
            <a:pPr algn="ctr" indent="0" marL="0">
              <a:buNone/>
            </a:pPr>
            <a:r>
              <a:rPr lang="en-US" sz="1500" b="1" dirty="0">
                <a:solidFill>
                  <a:srgbClr val="F4C72F"/>
                </a:solidFill>
                <a:latin typeface="Aptos" pitchFamily="34" charset="0"/>
                <a:ea typeface="Aptos" pitchFamily="34" charset="-122"/>
                <a:cs typeface="Aptos" pitchFamily="34" charset="-120"/>
              </a:rPr>
              <a:t>✓</a:t>
            </a:r>
            <a:endParaRPr lang="en-US" sz="1500" dirty="0"/>
          </a:p>
        </p:txBody>
      </p:sp>
      <p:sp>
        <p:nvSpPr>
          <p:cNvPr id="14" name="Text 12"/>
          <p:cNvSpPr txBox="1"/>
          <p:nvPr/>
        </p:nvSpPr>
        <p:spPr>
          <a:xfrm>
            <a:off x="1298448" y="3867912"/>
            <a:ext cx="3877056" cy="256032"/>
          </a:xfrm>
          <a:prstGeom prst="rect">
            <a:avLst/>
          </a:prstGeom>
          <a:noFill/>
          <a:ln/>
        </p:spPr>
        <p:txBody>
          <a:bodyPr wrap="square" lIns="0" tIns="0" rIns="0" bIns="0" rtlCol="0" anchor="ctr">
            <a:normAutofit/>
          </a:bodyPr>
          <a:lstStyle/>
          <a:p>
            <a:pPr algn="l" indent="0" marL="0">
              <a:buNone/>
            </a:pPr>
            <a:r>
              <a:rPr lang="en-US" sz="1420" dirty="0">
                <a:solidFill>
                  <a:srgbClr val="FFFFFF"/>
                </a:solidFill>
                <a:latin typeface="Aptos" pitchFamily="34" charset="0"/>
                <a:ea typeface="Aptos" pitchFamily="34" charset="-122"/>
                <a:cs typeface="Aptos" pitchFamily="34" charset="-120"/>
              </a:rPr>
              <a:t>Traceable evidence + visible fallback</a:t>
            </a:r>
            <a:endParaRPr lang="en-US" sz="1420" dirty="0"/>
          </a:p>
        </p:txBody>
      </p:sp>
      <p:sp>
        <p:nvSpPr>
          <p:cNvPr id="15" name="Text 13"/>
          <p:cNvSpPr txBox="1"/>
          <p:nvPr/>
        </p:nvSpPr>
        <p:spPr>
          <a:xfrm>
            <a:off x="914400" y="4315968"/>
            <a:ext cx="256032" cy="219456"/>
          </a:xfrm>
          <a:prstGeom prst="rect">
            <a:avLst/>
          </a:prstGeom>
          <a:noFill/>
          <a:ln/>
        </p:spPr>
        <p:txBody>
          <a:bodyPr wrap="square" lIns="0" tIns="0" rIns="0" bIns="0" rtlCol="0" anchor="ctr">
            <a:normAutofit/>
          </a:bodyPr>
          <a:lstStyle/>
          <a:p>
            <a:pPr algn="ctr" indent="0" marL="0">
              <a:buNone/>
            </a:pPr>
            <a:r>
              <a:rPr lang="en-US" sz="1500" b="1" dirty="0">
                <a:solidFill>
                  <a:srgbClr val="F4C72F"/>
                </a:solidFill>
                <a:latin typeface="Aptos" pitchFamily="34" charset="0"/>
                <a:ea typeface="Aptos" pitchFamily="34" charset="-122"/>
                <a:cs typeface="Aptos" pitchFamily="34" charset="-120"/>
              </a:rPr>
              <a:t>✓</a:t>
            </a:r>
            <a:endParaRPr lang="en-US" sz="1500" dirty="0"/>
          </a:p>
        </p:txBody>
      </p:sp>
      <p:sp>
        <p:nvSpPr>
          <p:cNvPr id="16" name="Text 14"/>
          <p:cNvSpPr txBox="1"/>
          <p:nvPr/>
        </p:nvSpPr>
        <p:spPr>
          <a:xfrm>
            <a:off x="1298448" y="4297680"/>
            <a:ext cx="3877056" cy="256032"/>
          </a:xfrm>
          <a:prstGeom prst="rect">
            <a:avLst/>
          </a:prstGeom>
          <a:noFill/>
          <a:ln/>
        </p:spPr>
        <p:txBody>
          <a:bodyPr wrap="square" lIns="0" tIns="0" rIns="0" bIns="0" rtlCol="0" anchor="ctr">
            <a:normAutofit/>
          </a:bodyPr>
          <a:lstStyle/>
          <a:p>
            <a:pPr algn="l" indent="0" marL="0">
              <a:buNone/>
            </a:pPr>
            <a:r>
              <a:rPr lang="en-US" sz="1420" dirty="0">
                <a:solidFill>
                  <a:srgbClr val="FFFFFF"/>
                </a:solidFill>
                <a:latin typeface="Aptos" pitchFamily="34" charset="0"/>
                <a:ea typeface="Aptos" pitchFamily="34" charset="-122"/>
                <a:cs typeface="Aptos" pitchFamily="34" charset="-120"/>
              </a:rPr>
              <a:t>Saved progress on the device</a:t>
            </a:r>
            <a:endParaRPr lang="en-US" sz="1420" dirty="0"/>
          </a:p>
        </p:txBody>
      </p:sp>
      <p:sp>
        <p:nvSpPr>
          <p:cNvPr id="17" name="Text 15"/>
          <p:cNvSpPr txBox="1"/>
          <p:nvPr/>
        </p:nvSpPr>
        <p:spPr>
          <a:xfrm>
            <a:off x="6254496" y="3026664"/>
            <a:ext cx="347472" cy="219456"/>
          </a:xfrm>
          <a:prstGeom prst="rect">
            <a:avLst/>
          </a:prstGeom>
          <a:noFill/>
          <a:ln/>
        </p:spPr>
        <p:txBody>
          <a:bodyPr wrap="square" lIns="0" tIns="0" rIns="0" bIns="0" rtlCol="0" anchor="ctr">
            <a:normAutofit/>
          </a:bodyPr>
          <a:lstStyle/>
          <a:p>
            <a:pPr algn="l" indent="0" marL="0">
              <a:buNone/>
            </a:pPr>
            <a:r>
              <a:rPr lang="en-US" sz="980" b="1" dirty="0">
                <a:solidFill>
                  <a:srgbClr val="2F6A25"/>
                </a:solidFill>
                <a:latin typeface="Aptos" pitchFamily="34" charset="0"/>
                <a:ea typeface="Aptos" pitchFamily="34" charset="-122"/>
                <a:cs typeface="Aptos" pitchFamily="34" charset="-120"/>
              </a:rPr>
              <a:t>01</a:t>
            </a:r>
            <a:endParaRPr lang="en-US" sz="980" dirty="0"/>
          </a:p>
        </p:txBody>
      </p:sp>
      <p:sp>
        <p:nvSpPr>
          <p:cNvPr id="18" name="Text 16"/>
          <p:cNvSpPr txBox="1"/>
          <p:nvPr/>
        </p:nvSpPr>
        <p:spPr>
          <a:xfrm>
            <a:off x="6748272" y="3008376"/>
            <a:ext cx="3785616" cy="256032"/>
          </a:xfrm>
          <a:prstGeom prst="rect">
            <a:avLst/>
          </a:prstGeom>
          <a:noFill/>
          <a:ln/>
        </p:spPr>
        <p:txBody>
          <a:bodyPr wrap="square" lIns="0" tIns="0" rIns="0" bIns="0" rtlCol="0" anchor="ctr">
            <a:normAutofit/>
          </a:bodyPr>
          <a:lstStyle/>
          <a:p>
            <a:pPr algn="l" indent="0" marL="0">
              <a:buNone/>
            </a:pPr>
            <a:r>
              <a:rPr lang="en-US" sz="1420" dirty="0">
                <a:solidFill>
                  <a:srgbClr val="171A16"/>
                </a:solidFill>
                <a:latin typeface="Aptos" pitchFamily="34" charset="0"/>
                <a:ea typeface="Aptos" pitchFamily="34" charset="-122"/>
                <a:cs typeface="Aptos" pitchFamily="34" charset="-120"/>
              </a:rPr>
              <a:t>10-student outcome pilot</a:t>
            </a:r>
            <a:endParaRPr lang="en-US" sz="1420" dirty="0"/>
          </a:p>
        </p:txBody>
      </p:sp>
      <p:sp>
        <p:nvSpPr>
          <p:cNvPr id="19" name="Text 17"/>
          <p:cNvSpPr txBox="1"/>
          <p:nvPr/>
        </p:nvSpPr>
        <p:spPr>
          <a:xfrm>
            <a:off x="6254496" y="3456432"/>
            <a:ext cx="347472" cy="219456"/>
          </a:xfrm>
          <a:prstGeom prst="rect">
            <a:avLst/>
          </a:prstGeom>
          <a:noFill/>
          <a:ln/>
        </p:spPr>
        <p:txBody>
          <a:bodyPr wrap="square" lIns="0" tIns="0" rIns="0" bIns="0" rtlCol="0" anchor="ctr">
            <a:normAutofit/>
          </a:bodyPr>
          <a:lstStyle/>
          <a:p>
            <a:pPr algn="l" indent="0" marL="0">
              <a:buNone/>
            </a:pPr>
            <a:r>
              <a:rPr lang="en-US" sz="980" b="1" dirty="0">
                <a:solidFill>
                  <a:srgbClr val="2F6A25"/>
                </a:solidFill>
                <a:latin typeface="Aptos" pitchFamily="34" charset="0"/>
                <a:ea typeface="Aptos" pitchFamily="34" charset="-122"/>
                <a:cs typeface="Aptos" pitchFamily="34" charset="-120"/>
              </a:rPr>
              <a:t>02</a:t>
            </a:r>
            <a:endParaRPr lang="en-US" sz="980" dirty="0"/>
          </a:p>
        </p:txBody>
      </p:sp>
      <p:sp>
        <p:nvSpPr>
          <p:cNvPr id="20" name="Text 18"/>
          <p:cNvSpPr txBox="1"/>
          <p:nvPr/>
        </p:nvSpPr>
        <p:spPr>
          <a:xfrm>
            <a:off x="6748272" y="3438144"/>
            <a:ext cx="3785616" cy="256032"/>
          </a:xfrm>
          <a:prstGeom prst="rect">
            <a:avLst/>
          </a:prstGeom>
          <a:noFill/>
          <a:ln/>
        </p:spPr>
        <p:txBody>
          <a:bodyPr wrap="square" lIns="0" tIns="0" rIns="0" bIns="0" rtlCol="0" anchor="ctr">
            <a:normAutofit/>
          </a:bodyPr>
          <a:lstStyle/>
          <a:p>
            <a:pPr algn="l" indent="0" marL="0">
              <a:buNone/>
            </a:pPr>
            <a:r>
              <a:rPr lang="en-US" sz="1420" dirty="0">
                <a:solidFill>
                  <a:srgbClr val="171A16"/>
                </a:solidFill>
                <a:latin typeface="Aptos" pitchFamily="34" charset="0"/>
                <a:ea typeface="Aptos" pitchFamily="34" charset="-122"/>
                <a:cs typeface="Aptos" pitchFamily="34" charset="-120"/>
              </a:rPr>
              <a:t>Measured rubric-import accuracy</a:t>
            </a:r>
            <a:endParaRPr lang="en-US" sz="1420" dirty="0"/>
          </a:p>
        </p:txBody>
      </p:sp>
      <p:sp>
        <p:nvSpPr>
          <p:cNvPr id="21" name="Text 19"/>
          <p:cNvSpPr txBox="1"/>
          <p:nvPr/>
        </p:nvSpPr>
        <p:spPr>
          <a:xfrm>
            <a:off x="6254496" y="3886200"/>
            <a:ext cx="347472" cy="219456"/>
          </a:xfrm>
          <a:prstGeom prst="rect">
            <a:avLst/>
          </a:prstGeom>
          <a:noFill/>
          <a:ln/>
        </p:spPr>
        <p:txBody>
          <a:bodyPr wrap="square" lIns="0" tIns="0" rIns="0" bIns="0" rtlCol="0" anchor="ctr">
            <a:normAutofit/>
          </a:bodyPr>
          <a:lstStyle/>
          <a:p>
            <a:pPr algn="l" indent="0" marL="0">
              <a:buNone/>
            </a:pPr>
            <a:r>
              <a:rPr lang="en-US" sz="980" b="1" dirty="0">
                <a:solidFill>
                  <a:srgbClr val="2F6A25"/>
                </a:solidFill>
                <a:latin typeface="Aptos" pitchFamily="34" charset="0"/>
                <a:ea typeface="Aptos" pitchFamily="34" charset="-122"/>
                <a:cs typeface="Aptos" pitchFamily="34" charset="-120"/>
              </a:rPr>
              <a:t>03</a:t>
            </a:r>
            <a:endParaRPr lang="en-US" sz="980" dirty="0"/>
          </a:p>
        </p:txBody>
      </p:sp>
      <p:sp>
        <p:nvSpPr>
          <p:cNvPr id="22" name="Text 20"/>
          <p:cNvSpPr txBox="1"/>
          <p:nvPr/>
        </p:nvSpPr>
        <p:spPr>
          <a:xfrm>
            <a:off x="6748272" y="3867912"/>
            <a:ext cx="3785616" cy="256032"/>
          </a:xfrm>
          <a:prstGeom prst="rect">
            <a:avLst/>
          </a:prstGeom>
          <a:noFill/>
          <a:ln/>
        </p:spPr>
        <p:txBody>
          <a:bodyPr wrap="square" lIns="0" tIns="0" rIns="0" bIns="0" rtlCol="0" anchor="ctr">
            <a:normAutofit/>
          </a:bodyPr>
          <a:lstStyle/>
          <a:p>
            <a:pPr algn="l" indent="0" marL="0">
              <a:buNone/>
            </a:pPr>
            <a:r>
              <a:rPr lang="en-US" sz="1420" dirty="0">
                <a:solidFill>
                  <a:srgbClr val="171A16"/>
                </a:solidFill>
                <a:latin typeface="Aptos" pitchFamily="34" charset="0"/>
                <a:ea typeface="Aptos" pitchFamily="34" charset="-122"/>
                <a:cs typeface="Aptos" pitchFamily="34" charset="-120"/>
              </a:rPr>
              <a:t>Consent, expiry and deletion controls</a:t>
            </a:r>
            <a:endParaRPr lang="en-US" sz="1420" dirty="0"/>
          </a:p>
        </p:txBody>
      </p:sp>
      <p:sp>
        <p:nvSpPr>
          <p:cNvPr id="23" name="Text 21"/>
          <p:cNvSpPr txBox="1"/>
          <p:nvPr/>
        </p:nvSpPr>
        <p:spPr>
          <a:xfrm>
            <a:off x="6254496" y="4315968"/>
            <a:ext cx="347472" cy="219456"/>
          </a:xfrm>
          <a:prstGeom prst="rect">
            <a:avLst/>
          </a:prstGeom>
          <a:noFill/>
          <a:ln/>
        </p:spPr>
        <p:txBody>
          <a:bodyPr wrap="square" lIns="0" tIns="0" rIns="0" bIns="0" rtlCol="0" anchor="ctr">
            <a:normAutofit/>
          </a:bodyPr>
          <a:lstStyle/>
          <a:p>
            <a:pPr algn="l" indent="0" marL="0">
              <a:buNone/>
            </a:pPr>
            <a:r>
              <a:rPr lang="en-US" sz="980" b="1" dirty="0">
                <a:solidFill>
                  <a:srgbClr val="2F6A25"/>
                </a:solidFill>
                <a:latin typeface="Aptos" pitchFamily="34" charset="0"/>
                <a:ea typeface="Aptos" pitchFamily="34" charset="-122"/>
                <a:cs typeface="Aptos" pitchFamily="34" charset="-120"/>
              </a:rPr>
              <a:t>04</a:t>
            </a:r>
            <a:endParaRPr lang="en-US" sz="980" dirty="0"/>
          </a:p>
        </p:txBody>
      </p:sp>
      <p:sp>
        <p:nvSpPr>
          <p:cNvPr id="24" name="Text 22"/>
          <p:cNvSpPr txBox="1"/>
          <p:nvPr/>
        </p:nvSpPr>
        <p:spPr>
          <a:xfrm>
            <a:off x="6748272" y="4297680"/>
            <a:ext cx="3785616" cy="256032"/>
          </a:xfrm>
          <a:prstGeom prst="rect">
            <a:avLst/>
          </a:prstGeom>
          <a:noFill/>
          <a:ln/>
        </p:spPr>
        <p:txBody>
          <a:bodyPr wrap="square" lIns="0" tIns="0" rIns="0" bIns="0" rtlCol="0" anchor="ctr">
            <a:normAutofit/>
          </a:bodyPr>
          <a:lstStyle/>
          <a:p>
            <a:pPr algn="l" indent="0" marL="0">
              <a:buNone/>
            </a:pPr>
            <a:r>
              <a:rPr lang="en-US" sz="1420" dirty="0">
                <a:solidFill>
                  <a:srgbClr val="171A16"/>
                </a:solidFill>
                <a:latin typeface="Aptos" pitchFamily="34" charset="0"/>
                <a:ea typeface="Aptos" pitchFamily="34" charset="-122"/>
                <a:cs typeface="Aptos" pitchFamily="34" charset="-120"/>
              </a:rPr>
              <a:t>Institutional rubric partnerships</a:t>
            </a:r>
            <a:endParaRPr lang="en-US" sz="1420" dirty="0"/>
          </a:p>
        </p:txBody>
      </p:sp>
      <p:sp>
        <p:nvSpPr>
          <p:cNvPr id="25" name="Text 23"/>
          <p:cNvSpPr txBox="1"/>
          <p:nvPr/>
        </p:nvSpPr>
        <p:spPr>
          <a:xfrm>
            <a:off x="658368" y="5449824"/>
            <a:ext cx="2880360" cy="365760"/>
          </a:xfrm>
          <a:prstGeom prst="rect">
            <a:avLst/>
          </a:prstGeom>
          <a:noFill/>
          <a:ln/>
        </p:spPr>
        <p:txBody>
          <a:bodyPr wrap="square" lIns="0" tIns="0" rIns="0" bIns="0" rtlCol="0" anchor="ctr">
            <a:normAutofit/>
          </a:bodyPr>
          <a:lstStyle/>
          <a:p>
            <a:pPr algn="l" indent="0" marL="0">
              <a:buNone/>
            </a:pPr>
            <a:r>
              <a:rPr lang="en-US" sz="2400" b="1" dirty="0">
                <a:solidFill>
                  <a:srgbClr val="F4C72F"/>
                </a:solidFill>
                <a:latin typeface="Aptos" pitchFamily="34" charset="0"/>
                <a:ea typeface="Aptos" pitchFamily="34" charset="-122"/>
                <a:cs typeface="Aptos" pitchFamily="34" charset="-120"/>
              </a:rPr>
              <a:t>Give us one criterion.</a:t>
            </a:r>
            <a:endParaRPr lang="en-US" sz="2400" dirty="0"/>
          </a:p>
        </p:txBody>
      </p:sp>
      <p:sp>
        <p:nvSpPr>
          <p:cNvPr id="26" name="Text 24"/>
          <p:cNvSpPr txBox="1"/>
          <p:nvPr/>
        </p:nvSpPr>
        <p:spPr>
          <a:xfrm>
            <a:off x="3474720" y="5413248"/>
            <a:ext cx="7296912" cy="457200"/>
          </a:xfrm>
          <a:prstGeom prst="rect">
            <a:avLst/>
          </a:prstGeom>
          <a:noFill/>
          <a:ln/>
        </p:spPr>
        <p:txBody>
          <a:bodyPr wrap="square" lIns="0" tIns="0" rIns="0" bIns="0" rtlCol="0" anchor="ctr">
            <a:normAutofit/>
          </a:bodyPr>
          <a:lstStyle/>
          <a:p>
            <a:pPr algn="l" indent="0" marL="0">
              <a:buNone/>
            </a:pPr>
            <a:r>
              <a:rPr lang="en-US" sz="2400" dirty="0">
                <a:solidFill>
                  <a:srgbClr val="FFFFFF"/>
                </a:solidFill>
                <a:latin typeface="Georgia" pitchFamily="34" charset="0"/>
                <a:ea typeface="Georgia" pitchFamily="34" charset="-122"/>
                <a:cs typeface="Georgia" pitchFamily="34" charset="-120"/>
              </a:rPr>
              <a:t>We will show the sentence—or refuse the verdict.</a:t>
            </a:r>
            <a:endParaRPr lang="en-US" sz="2400" dirty="0"/>
          </a:p>
        </p:txBody>
      </p:sp>
      <p:sp>
        <p:nvSpPr>
          <p:cNvPr id="27" name="Shape 25"/>
          <p:cNvSpPr/>
          <p:nvPr/>
        </p:nvSpPr>
        <p:spPr>
          <a:xfrm>
            <a:off x="658368" y="6062472"/>
            <a:ext cx="2148840" cy="457200"/>
          </a:xfrm>
          <a:prstGeom prst="roundRect">
            <a:avLst>
              <a:gd name="adj" fmla="val 36000"/>
            </a:avLst>
          </a:prstGeom>
          <a:solidFill>
            <a:srgbClr val="F4C72F"/>
          </a:solidFill>
          <a:ln w="10160">
            <a:solidFill>
              <a:srgbClr val="F4C72F"/>
            </a:solidFill>
            <a:prstDash val="solid"/>
          </a:ln>
        </p:spPr>
      </p:sp>
      <p:sp>
        <p:nvSpPr>
          <p:cNvPr id="28" name="Text 26"/>
          <p:cNvSpPr txBox="1"/>
          <p:nvPr/>
        </p:nvSpPr>
        <p:spPr>
          <a:xfrm>
            <a:off x="822960" y="6117336"/>
            <a:ext cx="1819656" cy="347472"/>
          </a:xfrm>
          <a:prstGeom prst="rect">
            <a:avLst/>
          </a:prstGeom>
          <a:noFill/>
          <a:ln/>
        </p:spPr>
        <p:txBody>
          <a:bodyPr wrap="square" lIns="0" tIns="0" rIns="0" bIns="0" rtlCol="0" anchor="ctr">
            <a:normAutofit/>
          </a:bodyPr>
          <a:lstStyle/>
          <a:p>
            <a:pPr algn="ctr" indent="0" marL="0">
              <a:buNone/>
            </a:pPr>
            <a:r>
              <a:rPr lang="en-US" sz="1300" b="1" u="sng" dirty="0">
                <a:solidFill>
                  <a:srgbClr val="171A16"/>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Talk-Active ↗</a:t>
            </a:r>
            <a:endParaRPr lang="en-US" sz="1300" dirty="0"/>
          </a:p>
        </p:txBody>
      </p:sp>
      <p:sp>
        <p:nvSpPr>
          <p:cNvPr id="29" name="Shape 27"/>
          <p:cNvSpPr/>
          <p:nvPr/>
        </p:nvSpPr>
        <p:spPr>
          <a:xfrm>
            <a:off x="2999232" y="6062472"/>
            <a:ext cx="2176272" cy="457200"/>
          </a:xfrm>
          <a:prstGeom prst="roundRect">
            <a:avLst>
              <a:gd name="adj" fmla="val 36000"/>
            </a:avLst>
          </a:prstGeom>
          <a:solidFill>
            <a:srgbClr val="2F6A25"/>
          </a:solidFill>
          <a:ln w="10160">
            <a:solidFill>
              <a:srgbClr val="2F6A25"/>
            </a:solidFill>
            <a:prstDash val="solid"/>
          </a:ln>
        </p:spPr>
      </p:sp>
      <p:sp>
        <p:nvSpPr>
          <p:cNvPr id="30" name="Text 28"/>
          <p:cNvSpPr txBox="1"/>
          <p:nvPr/>
        </p:nvSpPr>
        <p:spPr>
          <a:xfrm>
            <a:off x="3163824" y="6117336"/>
            <a:ext cx="1847088" cy="347472"/>
          </a:xfrm>
          <a:prstGeom prst="rect">
            <a:avLst/>
          </a:prstGeom>
          <a:noFill/>
          <a:ln/>
        </p:spPr>
        <p:txBody>
          <a:bodyPr wrap="square" lIns="0" tIns="0" rIns="0" bIns="0" rtlCol="0" anchor="ctr">
            <a:normAutofit/>
          </a:bodyPr>
          <a:lstStyle/>
          <a:p>
            <a:pPr algn="ctr" indent="0" marL="0">
              <a:buNone/>
            </a:pPr>
            <a:r>
              <a:rPr lang="en-US" sz="1300" b="1" u="sng" dirty="0">
                <a:solidFill>
                  <a:srgbClr val="FFFFF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Public repository ↗</a:t>
            </a:r>
            <a:endParaRPr lang="en-US" sz="1300" dirty="0"/>
          </a:p>
        </p:txBody>
      </p:sp>
      <p:sp>
        <p:nvSpPr>
          <p:cNvPr id="31" name="Text 29"/>
          <p:cNvSpPr txBox="1"/>
          <p:nvPr/>
        </p:nvSpPr>
        <p:spPr>
          <a:xfrm>
            <a:off x="8321040" y="6126480"/>
            <a:ext cx="2926080" cy="219456"/>
          </a:xfrm>
          <a:prstGeom prst="rect">
            <a:avLst/>
          </a:prstGeom>
          <a:noFill/>
          <a:ln/>
        </p:spPr>
        <p:txBody>
          <a:bodyPr wrap="square" lIns="0" tIns="0" rIns="0" bIns="0" rtlCol="0" anchor="ctr">
            <a:normAutofit/>
          </a:bodyPr>
          <a:lstStyle/>
          <a:p>
            <a:pPr algn="r" indent="0" marL="0">
              <a:buNone/>
            </a:pPr>
            <a:r>
              <a:rPr lang="en-US" sz="1150" dirty="0">
                <a:solidFill>
                  <a:srgbClr val="D5E7D0"/>
                </a:solidFill>
                <a:latin typeface="Aptos" pitchFamily="34" charset="0"/>
                <a:ea typeface="Aptos" pitchFamily="34" charset="-122"/>
                <a:cs typeface="Aptos" pitchFamily="34" charset="-120"/>
              </a:rPr>
              <a:t>Team FAM · RISTEK Hackathon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Talk-Active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Talk-Active — Rubric-grounded rehearsal for high-stakes evaluation</dc:title>
  <dc:subject>RISTEK Hackathon 2026 Finals</dc:subject>
  <dc:creator>Team FAM</dc:creator>
  <cp:lastModifiedBy>Team FAM</cp:lastModifiedBy>
  <cp:revision>1</cp:revision>
  <dcterms:created xsi:type="dcterms:W3CDTF">2026-08-11T21:46:51Z</dcterms:created>
  <dcterms:modified xsi:type="dcterms:W3CDTF">2026-08-11T21:46:51Z</dcterms:modified>
</cp:coreProperties>
</file>